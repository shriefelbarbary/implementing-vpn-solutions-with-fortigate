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4630400" cy="8229600"/>
  <p:notesSz cx="8229600" cy="14630400"/>
  <p:embeddedFontLst>
    <p:embeddedFont>
      <p:font typeface="Inter"/>
      <p:regular r:id="rId23"/>
    </p:embeddedFont>
    <p:embeddedFont>
      <p:font typeface="Inter"/>
      <p:regular r:id="rId24"/>
    </p:embeddedFont>
    <p:embeddedFont>
      <p:font typeface="Inter"/>
      <p:regular r:id="rId25"/>
    </p:embeddedFont>
    <p:embeddedFont>
      <p:font typeface="Inter"/>
      <p:regular r:id="rId26"/>
    </p:embeddedFont>
    <p:embeddedFont>
      <p:font typeface="Inter"/>
      <p:regular r:id="rId27"/>
    </p:embeddedFont>
    <p:embeddedFont>
      <p:font typeface="Inter"/>
      <p:regular r:id="rId28"/>
    </p:embeddedFont>
    <p:embeddedFont>
      <p:font typeface="Inter"/>
      <p:regular r:id="rId29"/>
    </p:embeddedFont>
    <p:embeddedFont>
      <p:font typeface="Inter"/>
      <p:regular r:id="rId3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 Id="rId29" Type="http://schemas.openxmlformats.org/officeDocument/2006/relationships/font" Target="fonts/font7.fntdata"/><Relationship Id="rId3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image" Target="../media/image-15-4.png"/><Relationship Id="rId5" Type="http://schemas.openxmlformats.org/officeDocument/2006/relationships/image" Target="../media/image-15-5.svg"/><Relationship Id="rId6" Type="http://schemas.openxmlformats.org/officeDocument/2006/relationships/image" Target="../media/image-15-6.png"/><Relationship Id="rId7" Type="http://schemas.openxmlformats.org/officeDocument/2006/relationships/slideLayout" Target="../slideLayouts/slideLayout1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28624"/>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FortiGate VPN Solutions: Project Overview</a:t>
            </a:r>
            <a:endParaRPr lang="en-US" sz="4450" dirty="0"/>
          </a:p>
        </p:txBody>
      </p:sp>
      <p:sp>
        <p:nvSpPr>
          <p:cNvPr id="4" name="Text 1"/>
          <p:cNvSpPr/>
          <p:nvPr/>
        </p:nvSpPr>
        <p:spPr>
          <a:xfrm>
            <a:off x="793790" y="408634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This presentation outlines a comprehensive 4-week project focused on implementing and optimizing VPN solutions using FortiGate firewalls. Designed for IT network engineers and technical students, this project builds foundational knowledge in VPN concepts and advanced configurations.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21122" y="637461"/>
            <a:ext cx="7874556" cy="906542"/>
          </a:xfrm>
          <a:prstGeom prst="rect">
            <a:avLst/>
          </a:prstGeom>
          <a:noFill/>
          <a:ln/>
        </p:spPr>
        <p:txBody>
          <a:bodyPr wrap="square" lIns="0" tIns="0" rIns="0" bIns="0" rtlCol="0" anchor="t"/>
          <a:lstStyle/>
          <a:p>
            <a:pPr algn="l" indent="0" marL="0">
              <a:lnSpc>
                <a:spcPts val="3550"/>
              </a:lnSpc>
              <a:buNone/>
            </a:pPr>
            <a:r>
              <a:rPr lang="en-US" sz="2850" b="1" dirty="0">
                <a:solidFill>
                  <a:srgbClr val="000000"/>
                </a:solidFill>
                <a:latin typeface="Inter Bold" pitchFamily="34" charset="0"/>
                <a:ea typeface="Inter Bold" pitchFamily="34" charset="-122"/>
                <a:cs typeface="Inter Bold" pitchFamily="34" charset="-120"/>
              </a:rPr>
              <a:t>Project Goals: Secure Connectivity &amp; Optimization</a:t>
            </a:r>
            <a:endParaRPr lang="en-US" sz="2850" dirty="0"/>
          </a:p>
        </p:txBody>
      </p:sp>
      <p:sp>
        <p:nvSpPr>
          <p:cNvPr id="4" name="Shape 1"/>
          <p:cNvSpPr/>
          <p:nvPr/>
        </p:nvSpPr>
        <p:spPr>
          <a:xfrm>
            <a:off x="6121122" y="1815941"/>
            <a:ext cx="7874556" cy="1380530"/>
          </a:xfrm>
          <a:prstGeom prst="roundRect">
            <a:avLst>
              <a:gd name="adj" fmla="val 7948"/>
            </a:avLst>
          </a:prstGeom>
          <a:solidFill>
            <a:srgbClr val="FFFFFF"/>
          </a:solidFill>
          <a:ln w="22860">
            <a:solidFill>
              <a:srgbClr val="C0C1D7"/>
            </a:solidFill>
            <a:prstDash val="solid"/>
          </a:ln>
        </p:spPr>
      </p:sp>
      <p:sp>
        <p:nvSpPr>
          <p:cNvPr id="5" name="Shape 2"/>
          <p:cNvSpPr/>
          <p:nvPr/>
        </p:nvSpPr>
        <p:spPr>
          <a:xfrm>
            <a:off x="6098262" y="1815941"/>
            <a:ext cx="91440" cy="1380530"/>
          </a:xfrm>
          <a:prstGeom prst="roundRect">
            <a:avLst>
              <a:gd name="adj" fmla="val 83302"/>
            </a:avLst>
          </a:prstGeom>
          <a:solidFill>
            <a:srgbClr val="4950BC"/>
          </a:solidFill>
          <a:ln/>
        </p:spPr>
      </p:sp>
      <p:sp>
        <p:nvSpPr>
          <p:cNvPr id="6" name="Text 3"/>
          <p:cNvSpPr/>
          <p:nvPr/>
        </p:nvSpPr>
        <p:spPr>
          <a:xfrm>
            <a:off x="6393894" y="2020133"/>
            <a:ext cx="2441734" cy="283369"/>
          </a:xfrm>
          <a:prstGeom prst="rect">
            <a:avLst/>
          </a:prstGeom>
          <a:noFill/>
          <a:ln/>
        </p:spPr>
        <p:txBody>
          <a:bodyPr wrap="none" lIns="0" tIns="0" rIns="0" bIns="0" rtlCol="0" anchor="t"/>
          <a:lstStyle/>
          <a:p>
            <a:pPr algn="l"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Master VPN Concepts</a:t>
            </a:r>
            <a:endParaRPr lang="en-US" sz="1750" dirty="0"/>
          </a:p>
        </p:txBody>
      </p:sp>
      <p:sp>
        <p:nvSpPr>
          <p:cNvPr id="7" name="Text 4"/>
          <p:cNvSpPr/>
          <p:nvPr/>
        </p:nvSpPr>
        <p:spPr>
          <a:xfrm>
            <a:off x="6393894" y="2412206"/>
            <a:ext cx="7397591" cy="580073"/>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Gain a deep understanding of various VPN types and their practical applications in modern networks.</a:t>
            </a:r>
            <a:endParaRPr lang="en-US" sz="1400" dirty="0"/>
          </a:p>
        </p:txBody>
      </p:sp>
      <p:sp>
        <p:nvSpPr>
          <p:cNvPr id="8" name="Shape 5"/>
          <p:cNvSpPr/>
          <p:nvPr/>
        </p:nvSpPr>
        <p:spPr>
          <a:xfrm>
            <a:off x="6121122" y="3377803"/>
            <a:ext cx="7874556" cy="1090493"/>
          </a:xfrm>
          <a:prstGeom prst="roundRect">
            <a:avLst>
              <a:gd name="adj" fmla="val 10062"/>
            </a:avLst>
          </a:prstGeom>
          <a:solidFill>
            <a:srgbClr val="FFFFFF"/>
          </a:solidFill>
          <a:ln w="22860">
            <a:solidFill>
              <a:srgbClr val="C0C1D7"/>
            </a:solidFill>
            <a:prstDash val="solid"/>
          </a:ln>
        </p:spPr>
      </p:sp>
      <p:sp>
        <p:nvSpPr>
          <p:cNvPr id="9" name="Shape 6"/>
          <p:cNvSpPr/>
          <p:nvPr/>
        </p:nvSpPr>
        <p:spPr>
          <a:xfrm>
            <a:off x="6098262" y="3377803"/>
            <a:ext cx="91440" cy="1090493"/>
          </a:xfrm>
          <a:prstGeom prst="roundRect">
            <a:avLst>
              <a:gd name="adj" fmla="val 83302"/>
            </a:avLst>
          </a:prstGeom>
          <a:solidFill>
            <a:srgbClr val="4950BC"/>
          </a:solidFill>
          <a:ln/>
        </p:spPr>
      </p:sp>
      <p:sp>
        <p:nvSpPr>
          <p:cNvPr id="10" name="Text 7"/>
          <p:cNvSpPr/>
          <p:nvPr/>
        </p:nvSpPr>
        <p:spPr>
          <a:xfrm>
            <a:off x="6393894" y="3581995"/>
            <a:ext cx="2683073" cy="283369"/>
          </a:xfrm>
          <a:prstGeom prst="rect">
            <a:avLst/>
          </a:prstGeom>
          <a:noFill/>
          <a:ln/>
        </p:spPr>
        <p:txBody>
          <a:bodyPr wrap="none" lIns="0" tIns="0" rIns="0" bIns="0" rtlCol="0" anchor="t"/>
          <a:lstStyle/>
          <a:p>
            <a:pPr algn="l"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Hands-on Configuration</a:t>
            </a:r>
            <a:endParaRPr lang="en-US" sz="1750" dirty="0"/>
          </a:p>
        </p:txBody>
      </p:sp>
      <p:sp>
        <p:nvSpPr>
          <p:cNvPr id="11" name="Text 8"/>
          <p:cNvSpPr/>
          <p:nvPr/>
        </p:nvSpPr>
        <p:spPr>
          <a:xfrm>
            <a:off x="6393894" y="3974068"/>
            <a:ext cx="7397591" cy="290036"/>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Develop practical skills in configuring both SSL and IPsec VPNs on FortiGate devices.</a:t>
            </a:r>
            <a:endParaRPr lang="en-US" sz="1400" dirty="0"/>
          </a:p>
        </p:txBody>
      </p:sp>
      <p:sp>
        <p:nvSpPr>
          <p:cNvPr id="12" name="Shape 9"/>
          <p:cNvSpPr/>
          <p:nvPr/>
        </p:nvSpPr>
        <p:spPr>
          <a:xfrm>
            <a:off x="6121122" y="4649629"/>
            <a:ext cx="7874556" cy="1380530"/>
          </a:xfrm>
          <a:prstGeom prst="roundRect">
            <a:avLst>
              <a:gd name="adj" fmla="val 7948"/>
            </a:avLst>
          </a:prstGeom>
          <a:solidFill>
            <a:srgbClr val="FFFFFF"/>
          </a:solidFill>
          <a:ln w="22860">
            <a:solidFill>
              <a:srgbClr val="C0C1D7"/>
            </a:solidFill>
            <a:prstDash val="solid"/>
          </a:ln>
        </p:spPr>
      </p:sp>
      <p:sp>
        <p:nvSpPr>
          <p:cNvPr id="13" name="Shape 10"/>
          <p:cNvSpPr/>
          <p:nvPr/>
        </p:nvSpPr>
        <p:spPr>
          <a:xfrm>
            <a:off x="6098262" y="4649629"/>
            <a:ext cx="91440" cy="1380530"/>
          </a:xfrm>
          <a:prstGeom prst="roundRect">
            <a:avLst>
              <a:gd name="adj" fmla="val 83302"/>
            </a:avLst>
          </a:prstGeom>
          <a:solidFill>
            <a:srgbClr val="4950BC"/>
          </a:solidFill>
          <a:ln/>
        </p:spPr>
      </p:sp>
      <p:sp>
        <p:nvSpPr>
          <p:cNvPr id="14" name="Text 11"/>
          <p:cNvSpPr/>
          <p:nvPr/>
        </p:nvSpPr>
        <p:spPr>
          <a:xfrm>
            <a:off x="6393894" y="4853821"/>
            <a:ext cx="2348270" cy="283369"/>
          </a:xfrm>
          <a:prstGeom prst="rect">
            <a:avLst/>
          </a:prstGeom>
          <a:noFill/>
          <a:ln/>
        </p:spPr>
        <p:txBody>
          <a:bodyPr wrap="none" lIns="0" tIns="0" rIns="0" bIns="0" rtlCol="0" anchor="t"/>
          <a:lstStyle/>
          <a:p>
            <a:pPr algn="l"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Optimize Traffic Flow</a:t>
            </a:r>
            <a:endParaRPr lang="en-US" sz="1750" dirty="0"/>
          </a:p>
        </p:txBody>
      </p:sp>
      <p:sp>
        <p:nvSpPr>
          <p:cNvPr id="15" name="Text 12"/>
          <p:cNvSpPr/>
          <p:nvPr/>
        </p:nvSpPr>
        <p:spPr>
          <a:xfrm>
            <a:off x="6393894" y="5245894"/>
            <a:ext cx="7397591" cy="580073"/>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Learn to integrate SD-WAN with VPNs for enhanced performance and intelligent traffic routing.</a:t>
            </a:r>
            <a:endParaRPr lang="en-US" sz="1400" dirty="0"/>
          </a:p>
        </p:txBody>
      </p:sp>
      <p:sp>
        <p:nvSpPr>
          <p:cNvPr id="16" name="Shape 13"/>
          <p:cNvSpPr/>
          <p:nvPr/>
        </p:nvSpPr>
        <p:spPr>
          <a:xfrm>
            <a:off x="6121122" y="6211491"/>
            <a:ext cx="7874556" cy="1380530"/>
          </a:xfrm>
          <a:prstGeom prst="roundRect">
            <a:avLst>
              <a:gd name="adj" fmla="val 7948"/>
            </a:avLst>
          </a:prstGeom>
          <a:solidFill>
            <a:srgbClr val="FFFFFF"/>
          </a:solidFill>
          <a:ln w="22860">
            <a:solidFill>
              <a:srgbClr val="C0C1D7"/>
            </a:solidFill>
            <a:prstDash val="solid"/>
          </a:ln>
        </p:spPr>
      </p:sp>
      <p:sp>
        <p:nvSpPr>
          <p:cNvPr id="17" name="Shape 14"/>
          <p:cNvSpPr/>
          <p:nvPr/>
        </p:nvSpPr>
        <p:spPr>
          <a:xfrm>
            <a:off x="6098262" y="6211491"/>
            <a:ext cx="91440" cy="1380530"/>
          </a:xfrm>
          <a:prstGeom prst="roundRect">
            <a:avLst>
              <a:gd name="adj" fmla="val 83302"/>
            </a:avLst>
          </a:prstGeom>
          <a:solidFill>
            <a:srgbClr val="4950BC"/>
          </a:solidFill>
          <a:ln/>
        </p:spPr>
      </p:sp>
      <p:sp>
        <p:nvSpPr>
          <p:cNvPr id="18" name="Text 15"/>
          <p:cNvSpPr/>
          <p:nvPr/>
        </p:nvSpPr>
        <p:spPr>
          <a:xfrm>
            <a:off x="6393894" y="6415683"/>
            <a:ext cx="3505319" cy="283369"/>
          </a:xfrm>
          <a:prstGeom prst="rect">
            <a:avLst/>
          </a:prstGeom>
          <a:noFill/>
          <a:ln/>
        </p:spPr>
        <p:txBody>
          <a:bodyPr wrap="none" lIns="0" tIns="0" rIns="0" bIns="0" rtlCol="0" anchor="t"/>
          <a:lstStyle/>
          <a:p>
            <a:pPr algn="l"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Comprehensive Documentation</a:t>
            </a:r>
            <a:endParaRPr lang="en-US" sz="1750" dirty="0"/>
          </a:p>
        </p:txBody>
      </p:sp>
      <p:sp>
        <p:nvSpPr>
          <p:cNvPr id="19" name="Text 16"/>
          <p:cNvSpPr/>
          <p:nvPr/>
        </p:nvSpPr>
        <p:spPr>
          <a:xfrm>
            <a:off x="6393894" y="6807756"/>
            <a:ext cx="7397591" cy="580073"/>
          </a:xfrm>
          <a:prstGeom prst="rect">
            <a:avLst/>
          </a:prstGeom>
          <a:noFill/>
          <a:ln/>
        </p:spPr>
        <p:txBody>
          <a:bodyPr wrap="squar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Produce detailed guides and reports on configurations, testing, and performance analysis.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6835" y="311825"/>
            <a:ext cx="2819876" cy="177165"/>
          </a:xfrm>
          <a:prstGeom prst="rect">
            <a:avLst/>
          </a:prstGeom>
          <a:noFill/>
          <a:ln/>
        </p:spPr>
        <p:txBody>
          <a:bodyPr wrap="none" lIns="0" tIns="0" rIns="0" bIns="0" rtlCol="0" anchor="t"/>
          <a:lstStyle/>
          <a:p>
            <a:pPr algn="l" indent="0" marL="0">
              <a:lnSpc>
                <a:spcPts val="1350"/>
              </a:lnSpc>
              <a:buNone/>
            </a:pPr>
            <a:r>
              <a:rPr lang="en-US" sz="1100" b="1" dirty="0">
                <a:solidFill>
                  <a:srgbClr val="000000"/>
                </a:solidFill>
                <a:latin typeface="Inter Bold" pitchFamily="34" charset="0"/>
                <a:ea typeface="Inter Bold" pitchFamily="34" charset="-122"/>
                <a:cs typeface="Inter Bold" pitchFamily="34" charset="-120"/>
              </a:rPr>
              <a:t>Chapter 1: VPN Fundamentals &amp; SSL VPN</a:t>
            </a:r>
            <a:endParaRPr lang="en-US" sz="1100" dirty="0"/>
          </a:p>
        </p:txBody>
      </p:sp>
      <p:sp>
        <p:nvSpPr>
          <p:cNvPr id="3" name="Text 1"/>
          <p:cNvSpPr/>
          <p:nvPr/>
        </p:nvSpPr>
        <p:spPr>
          <a:xfrm>
            <a:off x="396835" y="534352"/>
            <a:ext cx="6452592"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Week 1: Understanding &amp; Configuring SSL VPN</a:t>
            </a:r>
            <a:endParaRPr lang="en-US" sz="2200" dirty="0"/>
          </a:p>
        </p:txBody>
      </p:sp>
      <p:sp>
        <p:nvSpPr>
          <p:cNvPr id="4" name="Shape 2"/>
          <p:cNvSpPr/>
          <p:nvPr/>
        </p:nvSpPr>
        <p:spPr>
          <a:xfrm>
            <a:off x="396835" y="1186220"/>
            <a:ext cx="255151" cy="255151"/>
          </a:xfrm>
          <a:prstGeom prst="roundRect">
            <a:avLst>
              <a:gd name="adj" fmla="val 18669"/>
            </a:avLst>
          </a:prstGeom>
          <a:solidFill>
            <a:srgbClr val="DADBF1"/>
          </a:solidFill>
          <a:ln w="7620">
            <a:solidFill>
              <a:srgbClr val="C0C1D7"/>
            </a:solidFill>
            <a:prstDash val="solid"/>
          </a:ln>
        </p:spPr>
      </p:sp>
      <p:sp>
        <p:nvSpPr>
          <p:cNvPr id="5" name="Text 3"/>
          <p:cNvSpPr/>
          <p:nvPr/>
        </p:nvSpPr>
        <p:spPr>
          <a:xfrm>
            <a:off x="439341" y="1207413"/>
            <a:ext cx="170021" cy="212646"/>
          </a:xfrm>
          <a:prstGeom prst="rect">
            <a:avLst/>
          </a:prstGeom>
          <a:noFill/>
          <a:ln/>
        </p:spPr>
        <p:txBody>
          <a:bodyPr wrap="none" lIns="0" tIns="0" rIns="0" bIns="0" rtlCol="0" anchor="t"/>
          <a:lstStyle/>
          <a:p>
            <a:pPr algn="ctr" indent="0" marL="0">
              <a:lnSpc>
                <a:spcPts val="1300"/>
              </a:lnSpc>
              <a:buNone/>
            </a:pPr>
            <a:r>
              <a:rPr lang="en-US" sz="1300" b="1" dirty="0">
                <a:solidFill>
                  <a:srgbClr val="272525"/>
                </a:solidFill>
                <a:latin typeface="Inter Bold" pitchFamily="34" charset="0"/>
                <a:ea typeface="Inter Bold" pitchFamily="34" charset="-122"/>
                <a:cs typeface="Inter Bold" pitchFamily="34" charset="-120"/>
              </a:rPr>
              <a:t>1</a:t>
            </a:r>
            <a:endParaRPr lang="en-US" sz="1300" dirty="0"/>
          </a:p>
        </p:txBody>
      </p:sp>
      <p:sp>
        <p:nvSpPr>
          <p:cNvPr id="6" name="Text 4"/>
          <p:cNvSpPr/>
          <p:nvPr/>
        </p:nvSpPr>
        <p:spPr>
          <a:xfrm>
            <a:off x="765334" y="1225153"/>
            <a:ext cx="1899880" cy="177165"/>
          </a:xfrm>
          <a:prstGeom prst="rect">
            <a:avLst/>
          </a:prstGeom>
          <a:noFill/>
          <a:ln/>
        </p:spPr>
        <p:txBody>
          <a:bodyPr wrap="none" lIns="0" tIns="0" rIns="0" bIns="0" rtlCol="0" anchor="t"/>
          <a:lstStyle/>
          <a:p>
            <a:pPr algn="l" indent="0" marL="0">
              <a:lnSpc>
                <a:spcPts val="1350"/>
              </a:lnSpc>
              <a:buNone/>
            </a:pPr>
            <a:r>
              <a:rPr lang="en-US" sz="1100" b="1" dirty="0">
                <a:solidFill>
                  <a:srgbClr val="272525"/>
                </a:solidFill>
                <a:latin typeface="Inter Bold" pitchFamily="34" charset="0"/>
                <a:ea typeface="Inter Bold" pitchFamily="34" charset="-122"/>
                <a:cs typeface="Inter Bold" pitchFamily="34" charset="-120"/>
              </a:rPr>
              <a:t>VPN Concepts &amp; Use Cases</a:t>
            </a:r>
            <a:endParaRPr lang="en-US" sz="1100" dirty="0"/>
          </a:p>
        </p:txBody>
      </p:sp>
      <p:sp>
        <p:nvSpPr>
          <p:cNvPr id="7" name="Text 5"/>
          <p:cNvSpPr/>
          <p:nvPr/>
        </p:nvSpPr>
        <p:spPr>
          <a:xfrm>
            <a:off x="765334" y="1515666"/>
            <a:ext cx="7822763" cy="181451"/>
          </a:xfrm>
          <a:prstGeom prst="rect">
            <a:avLst/>
          </a:prstGeom>
          <a:noFill/>
          <a:ln/>
        </p:spPr>
        <p:txBody>
          <a:bodyPr wrap="none" lIns="0" tIns="0" rIns="0" bIns="0" rtlCol="0" anchor="t"/>
          <a:lstStyle/>
          <a:p>
            <a:pPr algn="l" indent="0" marL="0">
              <a:lnSpc>
                <a:spcPts val="1400"/>
              </a:lnSpc>
              <a:buNone/>
            </a:pPr>
            <a:r>
              <a:rPr lang="en-US" sz="850" dirty="0">
                <a:solidFill>
                  <a:srgbClr val="272525"/>
                </a:solidFill>
                <a:latin typeface="Inter" pitchFamily="34" charset="0"/>
                <a:ea typeface="Inter" pitchFamily="34" charset="-122"/>
                <a:cs typeface="Inter" pitchFamily="34" charset="-120"/>
              </a:rPr>
              <a:t>Explore different VPN types, including site-to-site, remote access, and their respective scenarios for secure communication.</a:t>
            </a:r>
            <a:endParaRPr lang="en-US" sz="850" dirty="0"/>
          </a:p>
        </p:txBody>
      </p:sp>
      <p:sp>
        <p:nvSpPr>
          <p:cNvPr id="8" name="Shape 6"/>
          <p:cNvSpPr/>
          <p:nvPr/>
        </p:nvSpPr>
        <p:spPr>
          <a:xfrm>
            <a:off x="396835" y="1923931"/>
            <a:ext cx="255151" cy="255151"/>
          </a:xfrm>
          <a:prstGeom prst="roundRect">
            <a:avLst>
              <a:gd name="adj" fmla="val 18669"/>
            </a:avLst>
          </a:prstGeom>
          <a:solidFill>
            <a:srgbClr val="DADBF1"/>
          </a:solidFill>
          <a:ln w="7620">
            <a:solidFill>
              <a:srgbClr val="C0C1D7"/>
            </a:solidFill>
            <a:prstDash val="solid"/>
          </a:ln>
        </p:spPr>
      </p:sp>
      <p:sp>
        <p:nvSpPr>
          <p:cNvPr id="9" name="Text 7"/>
          <p:cNvSpPr/>
          <p:nvPr/>
        </p:nvSpPr>
        <p:spPr>
          <a:xfrm>
            <a:off x="439341" y="1945124"/>
            <a:ext cx="170021" cy="212646"/>
          </a:xfrm>
          <a:prstGeom prst="rect">
            <a:avLst/>
          </a:prstGeom>
          <a:noFill/>
          <a:ln/>
        </p:spPr>
        <p:txBody>
          <a:bodyPr wrap="none" lIns="0" tIns="0" rIns="0" bIns="0" rtlCol="0" anchor="t"/>
          <a:lstStyle/>
          <a:p>
            <a:pPr algn="ctr" indent="0" marL="0">
              <a:lnSpc>
                <a:spcPts val="1300"/>
              </a:lnSpc>
              <a:buNone/>
            </a:pPr>
            <a:r>
              <a:rPr lang="en-US" sz="1300" b="1" dirty="0">
                <a:solidFill>
                  <a:srgbClr val="272525"/>
                </a:solidFill>
                <a:latin typeface="Inter Bold" pitchFamily="34" charset="0"/>
                <a:ea typeface="Inter Bold" pitchFamily="34" charset="-122"/>
                <a:cs typeface="Inter Bold" pitchFamily="34" charset="-120"/>
              </a:rPr>
              <a:t>2</a:t>
            </a:r>
            <a:endParaRPr lang="en-US" sz="1300" dirty="0"/>
          </a:p>
        </p:txBody>
      </p:sp>
      <p:sp>
        <p:nvSpPr>
          <p:cNvPr id="10" name="Text 8"/>
          <p:cNvSpPr/>
          <p:nvPr/>
        </p:nvSpPr>
        <p:spPr>
          <a:xfrm>
            <a:off x="765334" y="1962864"/>
            <a:ext cx="1417558" cy="177165"/>
          </a:xfrm>
          <a:prstGeom prst="rect">
            <a:avLst/>
          </a:prstGeom>
          <a:noFill/>
          <a:ln/>
        </p:spPr>
        <p:txBody>
          <a:bodyPr wrap="none" lIns="0" tIns="0" rIns="0" bIns="0" rtlCol="0" anchor="t"/>
          <a:lstStyle/>
          <a:p>
            <a:pPr algn="l" indent="0" marL="0">
              <a:lnSpc>
                <a:spcPts val="1350"/>
              </a:lnSpc>
              <a:buNone/>
            </a:pPr>
            <a:r>
              <a:rPr lang="en-US" sz="1100" b="1" dirty="0">
                <a:solidFill>
                  <a:srgbClr val="272525"/>
                </a:solidFill>
                <a:latin typeface="Inter Bold" pitchFamily="34" charset="0"/>
                <a:ea typeface="Inter Bold" pitchFamily="34" charset="-122"/>
                <a:cs typeface="Inter Bold" pitchFamily="34" charset="-120"/>
              </a:rPr>
              <a:t>SSL VPN Deep Dive</a:t>
            </a:r>
            <a:endParaRPr lang="en-US" sz="1100" dirty="0"/>
          </a:p>
        </p:txBody>
      </p:sp>
      <p:sp>
        <p:nvSpPr>
          <p:cNvPr id="11" name="Text 9"/>
          <p:cNvSpPr/>
          <p:nvPr/>
        </p:nvSpPr>
        <p:spPr>
          <a:xfrm>
            <a:off x="765334" y="2253377"/>
            <a:ext cx="7822763" cy="181451"/>
          </a:xfrm>
          <a:prstGeom prst="rect">
            <a:avLst/>
          </a:prstGeom>
          <a:noFill/>
          <a:ln/>
        </p:spPr>
        <p:txBody>
          <a:bodyPr wrap="none" lIns="0" tIns="0" rIns="0" bIns="0" rtlCol="0" anchor="t"/>
          <a:lstStyle/>
          <a:p>
            <a:pPr algn="l" indent="0" marL="0">
              <a:lnSpc>
                <a:spcPts val="1400"/>
              </a:lnSpc>
              <a:buNone/>
            </a:pPr>
            <a:r>
              <a:rPr lang="en-US" sz="850" dirty="0">
                <a:solidFill>
                  <a:srgbClr val="272525"/>
                </a:solidFill>
                <a:latin typeface="Inter" pitchFamily="34" charset="0"/>
                <a:ea typeface="Inter" pitchFamily="34" charset="-122"/>
                <a:cs typeface="Inter" pitchFamily="34" charset="-120"/>
              </a:rPr>
              <a:t>Understand the architecture, authentication methods, and encryption protocols behind SSL VPNs.</a:t>
            </a:r>
            <a:endParaRPr lang="en-US" sz="850" dirty="0"/>
          </a:p>
        </p:txBody>
      </p:sp>
      <p:sp>
        <p:nvSpPr>
          <p:cNvPr id="12" name="Shape 10"/>
          <p:cNvSpPr/>
          <p:nvPr/>
        </p:nvSpPr>
        <p:spPr>
          <a:xfrm>
            <a:off x="396835" y="2661642"/>
            <a:ext cx="255151" cy="255151"/>
          </a:xfrm>
          <a:prstGeom prst="roundRect">
            <a:avLst>
              <a:gd name="adj" fmla="val 18669"/>
            </a:avLst>
          </a:prstGeom>
          <a:solidFill>
            <a:srgbClr val="DADBF1"/>
          </a:solidFill>
          <a:ln w="7620">
            <a:solidFill>
              <a:srgbClr val="C0C1D7"/>
            </a:solidFill>
            <a:prstDash val="solid"/>
          </a:ln>
        </p:spPr>
      </p:sp>
      <p:sp>
        <p:nvSpPr>
          <p:cNvPr id="13" name="Text 11"/>
          <p:cNvSpPr/>
          <p:nvPr/>
        </p:nvSpPr>
        <p:spPr>
          <a:xfrm>
            <a:off x="439341" y="2682835"/>
            <a:ext cx="170021" cy="212646"/>
          </a:xfrm>
          <a:prstGeom prst="rect">
            <a:avLst/>
          </a:prstGeom>
          <a:noFill/>
          <a:ln/>
        </p:spPr>
        <p:txBody>
          <a:bodyPr wrap="none" lIns="0" tIns="0" rIns="0" bIns="0" rtlCol="0" anchor="t"/>
          <a:lstStyle/>
          <a:p>
            <a:pPr algn="ctr" indent="0" marL="0">
              <a:lnSpc>
                <a:spcPts val="1300"/>
              </a:lnSpc>
              <a:buNone/>
            </a:pPr>
            <a:r>
              <a:rPr lang="en-US" sz="1300" b="1" dirty="0">
                <a:solidFill>
                  <a:srgbClr val="272525"/>
                </a:solidFill>
                <a:latin typeface="Inter Bold" pitchFamily="34" charset="0"/>
                <a:ea typeface="Inter Bold" pitchFamily="34" charset="-122"/>
                <a:cs typeface="Inter Bold" pitchFamily="34" charset="-120"/>
              </a:rPr>
              <a:t>3</a:t>
            </a:r>
            <a:endParaRPr lang="en-US" sz="1300" dirty="0"/>
          </a:p>
        </p:txBody>
      </p:sp>
      <p:sp>
        <p:nvSpPr>
          <p:cNvPr id="14" name="Text 12"/>
          <p:cNvSpPr/>
          <p:nvPr/>
        </p:nvSpPr>
        <p:spPr>
          <a:xfrm>
            <a:off x="765334" y="2700576"/>
            <a:ext cx="2269212" cy="177165"/>
          </a:xfrm>
          <a:prstGeom prst="rect">
            <a:avLst/>
          </a:prstGeom>
          <a:noFill/>
          <a:ln/>
        </p:spPr>
        <p:txBody>
          <a:bodyPr wrap="none" lIns="0" tIns="0" rIns="0" bIns="0" rtlCol="0" anchor="t"/>
          <a:lstStyle/>
          <a:p>
            <a:pPr algn="l" indent="0" marL="0">
              <a:lnSpc>
                <a:spcPts val="1350"/>
              </a:lnSpc>
              <a:buNone/>
            </a:pPr>
            <a:r>
              <a:rPr lang="en-US" sz="1100" b="1" dirty="0">
                <a:solidFill>
                  <a:srgbClr val="272525"/>
                </a:solidFill>
                <a:latin typeface="Inter Bold" pitchFamily="34" charset="0"/>
                <a:ea typeface="Inter Bold" pitchFamily="34" charset="-122"/>
                <a:cs typeface="Inter Bold" pitchFamily="34" charset="-120"/>
              </a:rPr>
              <a:t>FortiGate SSL VPN Configuration</a:t>
            </a:r>
            <a:endParaRPr lang="en-US" sz="1100" dirty="0"/>
          </a:p>
        </p:txBody>
      </p:sp>
      <p:sp>
        <p:nvSpPr>
          <p:cNvPr id="15" name="Text 13"/>
          <p:cNvSpPr/>
          <p:nvPr/>
        </p:nvSpPr>
        <p:spPr>
          <a:xfrm>
            <a:off x="765334" y="2991088"/>
            <a:ext cx="7822763" cy="181451"/>
          </a:xfrm>
          <a:prstGeom prst="rect">
            <a:avLst/>
          </a:prstGeom>
          <a:noFill/>
          <a:ln/>
        </p:spPr>
        <p:txBody>
          <a:bodyPr wrap="none" lIns="0" tIns="0" rIns="0" bIns="0" rtlCol="0" anchor="t"/>
          <a:lstStyle/>
          <a:p>
            <a:pPr algn="l" indent="0" marL="0">
              <a:lnSpc>
                <a:spcPts val="1400"/>
              </a:lnSpc>
              <a:buNone/>
            </a:pPr>
            <a:r>
              <a:rPr lang="en-US" sz="850" dirty="0">
                <a:solidFill>
                  <a:srgbClr val="272525"/>
                </a:solidFill>
                <a:latin typeface="Inter" pitchFamily="34" charset="0"/>
                <a:ea typeface="Inter" pitchFamily="34" charset="-122"/>
                <a:cs typeface="Inter" pitchFamily="34" charset="-120"/>
              </a:rPr>
              <a:t>Step-by-step guidance on setting up an SSL VPN on a FortiGate device, including user authentication and portal customization.</a:t>
            </a:r>
            <a:endParaRPr lang="en-US" sz="850" dirty="0"/>
          </a:p>
        </p:txBody>
      </p:sp>
      <p:sp>
        <p:nvSpPr>
          <p:cNvPr id="16" name="Shape 14"/>
          <p:cNvSpPr/>
          <p:nvPr/>
        </p:nvSpPr>
        <p:spPr>
          <a:xfrm>
            <a:off x="396835" y="3399353"/>
            <a:ext cx="255151" cy="255151"/>
          </a:xfrm>
          <a:prstGeom prst="roundRect">
            <a:avLst>
              <a:gd name="adj" fmla="val 18669"/>
            </a:avLst>
          </a:prstGeom>
          <a:solidFill>
            <a:srgbClr val="DADBF1"/>
          </a:solidFill>
          <a:ln w="7620">
            <a:solidFill>
              <a:srgbClr val="C0C1D7"/>
            </a:solidFill>
            <a:prstDash val="solid"/>
          </a:ln>
        </p:spPr>
      </p:sp>
      <p:sp>
        <p:nvSpPr>
          <p:cNvPr id="17" name="Text 15"/>
          <p:cNvSpPr/>
          <p:nvPr/>
        </p:nvSpPr>
        <p:spPr>
          <a:xfrm>
            <a:off x="439341" y="3420547"/>
            <a:ext cx="170021" cy="212646"/>
          </a:xfrm>
          <a:prstGeom prst="rect">
            <a:avLst/>
          </a:prstGeom>
          <a:noFill/>
          <a:ln/>
        </p:spPr>
        <p:txBody>
          <a:bodyPr wrap="none" lIns="0" tIns="0" rIns="0" bIns="0" rtlCol="0" anchor="t"/>
          <a:lstStyle/>
          <a:p>
            <a:pPr algn="ctr" indent="0" marL="0">
              <a:lnSpc>
                <a:spcPts val="1300"/>
              </a:lnSpc>
              <a:buNone/>
            </a:pPr>
            <a:r>
              <a:rPr lang="en-US" sz="1300" b="1" dirty="0">
                <a:solidFill>
                  <a:srgbClr val="272525"/>
                </a:solidFill>
                <a:latin typeface="Inter Bold" pitchFamily="34" charset="0"/>
                <a:ea typeface="Inter Bold" pitchFamily="34" charset="-122"/>
                <a:cs typeface="Inter Bold" pitchFamily="34" charset="-120"/>
              </a:rPr>
              <a:t>4</a:t>
            </a:r>
            <a:endParaRPr lang="en-US" sz="1300" dirty="0"/>
          </a:p>
        </p:txBody>
      </p:sp>
      <p:sp>
        <p:nvSpPr>
          <p:cNvPr id="18" name="Text 16"/>
          <p:cNvSpPr/>
          <p:nvPr/>
        </p:nvSpPr>
        <p:spPr>
          <a:xfrm>
            <a:off x="765334" y="3438287"/>
            <a:ext cx="1814989" cy="177165"/>
          </a:xfrm>
          <a:prstGeom prst="rect">
            <a:avLst/>
          </a:prstGeom>
          <a:noFill/>
          <a:ln/>
        </p:spPr>
        <p:txBody>
          <a:bodyPr wrap="none" lIns="0" tIns="0" rIns="0" bIns="0" rtlCol="0" anchor="t"/>
          <a:lstStyle/>
          <a:p>
            <a:pPr algn="l" indent="0" marL="0">
              <a:lnSpc>
                <a:spcPts val="1350"/>
              </a:lnSpc>
              <a:buNone/>
            </a:pPr>
            <a:r>
              <a:rPr lang="en-US" sz="1100" b="1" dirty="0">
                <a:solidFill>
                  <a:srgbClr val="272525"/>
                </a:solidFill>
                <a:latin typeface="Inter Bold" pitchFamily="34" charset="0"/>
                <a:ea typeface="Inter Bold" pitchFamily="34" charset="-122"/>
                <a:cs typeface="Inter Bold" pitchFamily="34" charset="-120"/>
              </a:rPr>
              <a:t>Testing &amp; Troubleshooting</a:t>
            </a:r>
            <a:endParaRPr lang="en-US" sz="1100" dirty="0"/>
          </a:p>
        </p:txBody>
      </p:sp>
      <p:sp>
        <p:nvSpPr>
          <p:cNvPr id="19" name="Text 17"/>
          <p:cNvSpPr/>
          <p:nvPr/>
        </p:nvSpPr>
        <p:spPr>
          <a:xfrm>
            <a:off x="765334" y="3728799"/>
            <a:ext cx="7822763" cy="181451"/>
          </a:xfrm>
          <a:prstGeom prst="rect">
            <a:avLst/>
          </a:prstGeom>
          <a:noFill/>
          <a:ln/>
        </p:spPr>
        <p:txBody>
          <a:bodyPr wrap="none" lIns="0" tIns="0" rIns="0" bIns="0" rtlCol="0" anchor="t"/>
          <a:lstStyle/>
          <a:p>
            <a:pPr algn="l" indent="0" marL="0">
              <a:lnSpc>
                <a:spcPts val="1400"/>
              </a:lnSpc>
              <a:buNone/>
            </a:pPr>
            <a:r>
              <a:rPr lang="en-US" sz="850" dirty="0">
                <a:solidFill>
                  <a:srgbClr val="272525"/>
                </a:solidFill>
                <a:latin typeface="Inter" pitchFamily="34" charset="0"/>
                <a:ea typeface="Inter" pitchFamily="34" charset="-122"/>
                <a:cs typeface="Inter" pitchFamily="34" charset="-120"/>
              </a:rPr>
              <a:t>Verify SSL VPN connectivity and learn common troubleshooting techniques for resolving access issues.</a:t>
            </a:r>
            <a:endParaRPr lang="en-US" sz="850" dirty="0"/>
          </a:p>
        </p:txBody>
      </p:sp>
      <p:pic>
        <p:nvPicPr>
          <p:cNvPr id="20" name="Image 0" descr="preencoded.png">    </p:cNvPr>
          <p:cNvPicPr>
            <a:picLocks noChangeAspect="1"/>
          </p:cNvPicPr>
          <p:nvPr/>
        </p:nvPicPr>
        <p:blipFill>
          <a:blip r:embed="rId1"/>
          <a:stretch>
            <a:fillRect/>
          </a:stretch>
        </p:blipFill>
        <p:spPr>
          <a:xfrm>
            <a:off x="8872418" y="1186220"/>
            <a:ext cx="5368647" cy="5368647"/>
          </a:xfrm>
          <a:prstGeom prst="rect">
            <a:avLst/>
          </a:prstGeom>
        </p:spPr>
      </p:pic>
      <p:pic>
        <p:nvPicPr>
          <p:cNvPr id="21" name="Image 1" descr="preencoded.png">    </p:cNvPr>
          <p:cNvPicPr>
            <a:picLocks noChangeAspect="1"/>
          </p:cNvPicPr>
          <p:nvPr/>
        </p:nvPicPr>
        <p:blipFill>
          <a:blip r:embed="rId2"/>
          <a:stretch>
            <a:fillRect/>
          </a:stretch>
        </p:blipFill>
        <p:spPr>
          <a:xfrm>
            <a:off x="8872418" y="6682383"/>
            <a:ext cx="5368647" cy="536864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636395"/>
            <a:ext cx="8083034" cy="566976"/>
          </a:xfrm>
          <a:prstGeom prst="rect">
            <a:avLst/>
          </a:prstGeom>
          <a:noFill/>
          <a:ln/>
        </p:spPr>
        <p:txBody>
          <a:bodyPr wrap="none" lIns="0" tIns="0" rIns="0" bIns="0" rtlCol="0" anchor="t"/>
          <a:lstStyle/>
          <a:p>
            <a:pPr algn="l" indent="0" marL="0">
              <a:lnSpc>
                <a:spcPts val="4450"/>
              </a:lnSpc>
              <a:buNone/>
            </a:pPr>
            <a:r>
              <a:rPr lang="en-US" sz="3550" b="1" dirty="0">
                <a:solidFill>
                  <a:srgbClr val="000000"/>
                </a:solidFill>
                <a:latin typeface="Inter Bold" pitchFamily="34" charset="0"/>
                <a:ea typeface="Inter Bold" pitchFamily="34" charset="-122"/>
                <a:cs typeface="Inter Bold" pitchFamily="34" charset="-120"/>
              </a:rPr>
              <a:t>Deliverable: Week 1 - SSL VPN Guide</a:t>
            </a:r>
            <a:endParaRPr lang="en-US" sz="3550" dirty="0"/>
          </a:p>
        </p:txBody>
      </p:sp>
      <p:sp>
        <p:nvSpPr>
          <p:cNvPr id="3" name="Shape 1"/>
          <p:cNvSpPr/>
          <p:nvPr/>
        </p:nvSpPr>
        <p:spPr>
          <a:xfrm>
            <a:off x="793790" y="2656999"/>
            <a:ext cx="4196358" cy="3318153"/>
          </a:xfrm>
          <a:prstGeom prst="roundRect">
            <a:avLst>
              <a:gd name="adj" fmla="val 2871"/>
            </a:avLst>
          </a:prstGeom>
          <a:solidFill>
            <a:srgbClr val="DADBF1"/>
          </a:solidFill>
          <a:ln w="7620">
            <a:solidFill>
              <a:srgbClr val="C0C1D7"/>
            </a:solidFill>
            <a:prstDash val="solid"/>
          </a:ln>
        </p:spPr>
      </p:sp>
      <p:sp>
        <p:nvSpPr>
          <p:cNvPr id="4" name="Shape 2"/>
          <p:cNvSpPr/>
          <p:nvPr/>
        </p:nvSpPr>
        <p:spPr>
          <a:xfrm>
            <a:off x="1028224" y="2891433"/>
            <a:ext cx="680442" cy="680442"/>
          </a:xfrm>
          <a:prstGeom prst="roundRect">
            <a:avLst>
              <a:gd name="adj" fmla="val 13436980"/>
            </a:avLst>
          </a:prstGeom>
          <a:solidFill>
            <a:srgbClr val="4950BC"/>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5390" y="3078480"/>
            <a:ext cx="306110" cy="306110"/>
          </a:xfrm>
          <a:prstGeom prst="rect">
            <a:avLst/>
          </a:prstGeom>
        </p:spPr>
      </p:pic>
      <p:sp>
        <p:nvSpPr>
          <p:cNvPr id="6" name="Text 3"/>
          <p:cNvSpPr/>
          <p:nvPr/>
        </p:nvSpPr>
        <p:spPr>
          <a:xfrm>
            <a:off x="1028224" y="379868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Configuration Guide</a:t>
            </a:r>
            <a:endParaRPr lang="en-US" sz="2200" dirty="0"/>
          </a:p>
        </p:txBody>
      </p:sp>
      <p:sp>
        <p:nvSpPr>
          <p:cNvPr id="7" name="Text 4"/>
          <p:cNvSpPr/>
          <p:nvPr/>
        </p:nvSpPr>
        <p:spPr>
          <a:xfrm>
            <a:off x="1028224" y="4289108"/>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 detailed document outlining the configured SSL VPN parameters and settings on the FortiGate.</a:t>
            </a:r>
            <a:endParaRPr lang="en-US" sz="1750" dirty="0"/>
          </a:p>
        </p:txBody>
      </p:sp>
      <p:sp>
        <p:nvSpPr>
          <p:cNvPr id="8" name="Shape 5"/>
          <p:cNvSpPr/>
          <p:nvPr/>
        </p:nvSpPr>
        <p:spPr>
          <a:xfrm>
            <a:off x="5216962" y="2656999"/>
            <a:ext cx="4196358" cy="3318153"/>
          </a:xfrm>
          <a:prstGeom prst="roundRect">
            <a:avLst>
              <a:gd name="adj" fmla="val 2871"/>
            </a:avLst>
          </a:prstGeom>
          <a:solidFill>
            <a:srgbClr val="DADBF1"/>
          </a:solidFill>
          <a:ln w="7620">
            <a:solidFill>
              <a:srgbClr val="C0C1D7"/>
            </a:solidFill>
            <a:prstDash val="solid"/>
          </a:ln>
        </p:spPr>
      </p:sp>
      <p:sp>
        <p:nvSpPr>
          <p:cNvPr id="9" name="Shape 6"/>
          <p:cNvSpPr/>
          <p:nvPr/>
        </p:nvSpPr>
        <p:spPr>
          <a:xfrm>
            <a:off x="5451396" y="2891433"/>
            <a:ext cx="680442" cy="680442"/>
          </a:xfrm>
          <a:prstGeom prst="roundRect">
            <a:avLst>
              <a:gd name="adj" fmla="val 13436980"/>
            </a:avLst>
          </a:prstGeom>
          <a:solidFill>
            <a:srgbClr val="4950BC"/>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562" y="3078480"/>
            <a:ext cx="306110" cy="306110"/>
          </a:xfrm>
          <a:prstGeom prst="rect">
            <a:avLst/>
          </a:prstGeom>
        </p:spPr>
      </p:pic>
      <p:sp>
        <p:nvSpPr>
          <p:cNvPr id="11" name="Text 7"/>
          <p:cNvSpPr/>
          <p:nvPr/>
        </p:nvSpPr>
        <p:spPr>
          <a:xfrm>
            <a:off x="5451396" y="379868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Test Results</a:t>
            </a:r>
            <a:endParaRPr lang="en-US" sz="2200" dirty="0"/>
          </a:p>
        </p:txBody>
      </p:sp>
      <p:sp>
        <p:nvSpPr>
          <p:cNvPr id="12" name="Text 8"/>
          <p:cNvSpPr/>
          <p:nvPr/>
        </p:nvSpPr>
        <p:spPr>
          <a:xfrm>
            <a:off x="5451396" y="4289108"/>
            <a:ext cx="3727490" cy="1451610"/>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Documentation of successful connection tests from remote clients, including access to internal resources.</a:t>
            </a:r>
            <a:endParaRPr lang="en-US" sz="1750" dirty="0"/>
          </a:p>
        </p:txBody>
      </p:sp>
      <p:sp>
        <p:nvSpPr>
          <p:cNvPr id="13" name="Shape 9"/>
          <p:cNvSpPr/>
          <p:nvPr/>
        </p:nvSpPr>
        <p:spPr>
          <a:xfrm>
            <a:off x="9640133" y="2656999"/>
            <a:ext cx="4196358" cy="3318153"/>
          </a:xfrm>
          <a:prstGeom prst="roundRect">
            <a:avLst>
              <a:gd name="adj" fmla="val 2871"/>
            </a:avLst>
          </a:prstGeom>
          <a:solidFill>
            <a:srgbClr val="DADBF1"/>
          </a:solidFill>
          <a:ln w="7620">
            <a:solidFill>
              <a:srgbClr val="C0C1D7"/>
            </a:solidFill>
            <a:prstDash val="solid"/>
          </a:ln>
        </p:spPr>
      </p:sp>
      <p:sp>
        <p:nvSpPr>
          <p:cNvPr id="14" name="Shape 10"/>
          <p:cNvSpPr/>
          <p:nvPr/>
        </p:nvSpPr>
        <p:spPr>
          <a:xfrm>
            <a:off x="9874568" y="2891433"/>
            <a:ext cx="680442" cy="680442"/>
          </a:xfrm>
          <a:prstGeom prst="roundRect">
            <a:avLst>
              <a:gd name="adj" fmla="val 13436980"/>
            </a:avLst>
          </a:prstGeom>
          <a:solidFill>
            <a:srgbClr val="4950BC"/>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61734" y="3078480"/>
            <a:ext cx="306110" cy="306110"/>
          </a:xfrm>
          <a:prstGeom prst="rect">
            <a:avLst/>
          </a:prstGeom>
        </p:spPr>
      </p:pic>
      <p:sp>
        <p:nvSpPr>
          <p:cNvPr id="16" name="Text 11"/>
          <p:cNvSpPr/>
          <p:nvPr/>
        </p:nvSpPr>
        <p:spPr>
          <a:xfrm>
            <a:off x="9874568" y="379868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Network Diagram</a:t>
            </a:r>
            <a:endParaRPr lang="en-US" sz="2200" dirty="0"/>
          </a:p>
        </p:txBody>
      </p:sp>
      <p:sp>
        <p:nvSpPr>
          <p:cNvPr id="17" name="Text 12"/>
          <p:cNvSpPr/>
          <p:nvPr/>
        </p:nvSpPr>
        <p:spPr>
          <a:xfrm>
            <a:off x="9874568" y="4289108"/>
            <a:ext cx="3727490" cy="1088708"/>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Visual representation of the SSL VPN topology and connected components.</a:t>
            </a:r>
            <a:endParaRPr lang="en-US" sz="1750" dirty="0"/>
          </a:p>
        </p:txBody>
      </p:sp>
      <p:sp>
        <p:nvSpPr>
          <p:cNvPr id="18" name="Text 13"/>
          <p:cNvSpPr/>
          <p:nvPr/>
        </p:nvSpPr>
        <p:spPr>
          <a:xfrm>
            <a:off x="793790" y="623030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This deliverable serves as a comprehensive resource for future reference and replication of the SSL VPN setup.</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9462" y="683300"/>
            <a:ext cx="2877145" cy="205026"/>
          </a:xfrm>
          <a:prstGeom prst="rect">
            <a:avLst/>
          </a:prstGeom>
          <a:noFill/>
          <a:ln/>
        </p:spPr>
        <p:txBody>
          <a:bodyPr wrap="none" lIns="0" tIns="0" rIns="0" bIns="0" rtlCol="0" anchor="t"/>
          <a:lstStyle/>
          <a:p>
            <a:pPr algn="l" indent="0" marL="0">
              <a:lnSpc>
                <a:spcPts val="1600"/>
              </a:lnSpc>
              <a:buNone/>
            </a:pPr>
            <a:r>
              <a:rPr lang="en-US" sz="1250" b="1" dirty="0">
                <a:solidFill>
                  <a:srgbClr val="000000"/>
                </a:solidFill>
                <a:latin typeface="Inter Bold" pitchFamily="34" charset="0"/>
                <a:ea typeface="Inter Bold" pitchFamily="34" charset="-122"/>
                <a:cs typeface="Inter Bold" pitchFamily="34" charset="-120"/>
              </a:rPr>
              <a:t>Chapter 2: Site-to-Site Connectivity</a:t>
            </a:r>
            <a:endParaRPr lang="en-US" sz="1250" dirty="0"/>
          </a:p>
        </p:txBody>
      </p:sp>
      <p:sp>
        <p:nvSpPr>
          <p:cNvPr id="3" name="Text 1"/>
          <p:cNvSpPr/>
          <p:nvPr/>
        </p:nvSpPr>
        <p:spPr>
          <a:xfrm>
            <a:off x="459462" y="940832"/>
            <a:ext cx="9445347" cy="410289"/>
          </a:xfrm>
          <a:prstGeom prst="rect">
            <a:avLst/>
          </a:prstGeom>
          <a:noFill/>
          <a:ln/>
        </p:spPr>
        <p:txBody>
          <a:bodyPr wrap="none" lIns="0" tIns="0" rIns="0" bIns="0" rtlCol="0" anchor="t"/>
          <a:lstStyle/>
          <a:p>
            <a:pPr algn="l" indent="0" marL="0">
              <a:lnSpc>
                <a:spcPts val="3200"/>
              </a:lnSpc>
              <a:buNone/>
            </a:pPr>
            <a:r>
              <a:rPr lang="en-US" sz="2550" b="1" dirty="0">
                <a:solidFill>
                  <a:srgbClr val="000000"/>
                </a:solidFill>
                <a:latin typeface="Inter Bold" pitchFamily="34" charset="0"/>
                <a:ea typeface="Inter Bold" pitchFamily="34" charset="-122"/>
                <a:cs typeface="Inter Bold" pitchFamily="34" charset="-120"/>
              </a:rPr>
              <a:t>Week 2 &amp; 3: Implementing SDWAN Over IPsec VPN Tunnels</a:t>
            </a:r>
            <a:endParaRPr lang="en-US" sz="2550" dirty="0"/>
          </a:p>
        </p:txBody>
      </p:sp>
      <p:sp>
        <p:nvSpPr>
          <p:cNvPr id="4" name="Text 2"/>
          <p:cNvSpPr/>
          <p:nvPr/>
        </p:nvSpPr>
        <p:spPr>
          <a:xfrm>
            <a:off x="459462" y="1666161"/>
            <a:ext cx="5292328" cy="210026"/>
          </a:xfrm>
          <a:prstGeom prst="rect">
            <a:avLst/>
          </a:prstGeom>
          <a:noFill/>
          <a:ln/>
        </p:spPr>
        <p:txBody>
          <a:bodyPr wrap="none" lIns="0" tIns="0" rIns="0" bIns="0" rtlCol="0" anchor="t"/>
          <a:lstStyle/>
          <a:p>
            <a:pPr algn="l" indent="0" marL="0">
              <a:lnSpc>
                <a:spcPts val="1650"/>
              </a:lnSpc>
              <a:buNone/>
            </a:pPr>
            <a:endParaRPr lang="en-US" sz="1000" dirty="0"/>
          </a:p>
        </p:txBody>
      </p:sp>
      <p:pic>
        <p:nvPicPr>
          <p:cNvPr id="5" name="Image 0" descr="preencoded.png">    </p:cNvPr>
          <p:cNvPicPr>
            <a:picLocks noChangeAspect="1"/>
          </p:cNvPicPr>
          <p:nvPr/>
        </p:nvPicPr>
        <p:blipFill>
          <a:blip r:embed="rId1"/>
          <a:stretch>
            <a:fillRect/>
          </a:stretch>
        </p:blipFill>
        <p:spPr>
          <a:xfrm>
            <a:off x="459462" y="2023824"/>
            <a:ext cx="2829997" cy="3638550"/>
          </a:xfrm>
          <a:prstGeom prst="rect">
            <a:avLst/>
          </a:prstGeom>
        </p:spPr>
      </p:pic>
      <p:sp>
        <p:nvSpPr>
          <p:cNvPr id="6" name="Text 3"/>
          <p:cNvSpPr/>
          <p:nvPr/>
        </p:nvSpPr>
        <p:spPr>
          <a:xfrm>
            <a:off x="6079688" y="1695688"/>
            <a:ext cx="131207" cy="164068"/>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Light" pitchFamily="34" charset="0"/>
                <a:ea typeface="Inter Light" pitchFamily="34" charset="-122"/>
                <a:cs typeface="Inter Light" pitchFamily="34" charset="-120"/>
              </a:rPr>
              <a:t>01</a:t>
            </a:r>
            <a:endParaRPr lang="en-US" sz="1000" dirty="0"/>
          </a:p>
        </p:txBody>
      </p:sp>
      <p:sp>
        <p:nvSpPr>
          <p:cNvPr id="7" name="Shape 4"/>
          <p:cNvSpPr/>
          <p:nvPr/>
        </p:nvSpPr>
        <p:spPr>
          <a:xfrm>
            <a:off x="6079688" y="1903452"/>
            <a:ext cx="8098750" cy="15240"/>
          </a:xfrm>
          <a:prstGeom prst="rect">
            <a:avLst/>
          </a:prstGeom>
          <a:solidFill>
            <a:srgbClr val="4950BC"/>
          </a:solidFill>
          <a:ln/>
        </p:spPr>
      </p:sp>
      <p:sp>
        <p:nvSpPr>
          <p:cNvPr id="8" name="Text 5"/>
          <p:cNvSpPr/>
          <p:nvPr/>
        </p:nvSpPr>
        <p:spPr>
          <a:xfrm>
            <a:off x="6079688" y="1999536"/>
            <a:ext cx="1641038" cy="205026"/>
          </a:xfrm>
          <a:prstGeom prst="rect">
            <a:avLst/>
          </a:prstGeom>
          <a:noFill/>
          <a:ln/>
        </p:spPr>
        <p:txBody>
          <a:bodyPr wrap="none" lIns="0" tIns="0" rIns="0" bIns="0" rtlCol="0" anchor="t"/>
          <a:lstStyle/>
          <a:p>
            <a:pPr algn="l" indent="0" marL="0">
              <a:lnSpc>
                <a:spcPts val="1600"/>
              </a:lnSpc>
              <a:buNone/>
            </a:pPr>
            <a:r>
              <a:rPr lang="en-US" sz="1250" b="1" dirty="0">
                <a:solidFill>
                  <a:srgbClr val="272525"/>
                </a:solidFill>
                <a:latin typeface="Inter Bold" pitchFamily="34" charset="0"/>
                <a:ea typeface="Inter Bold" pitchFamily="34" charset="-122"/>
                <a:cs typeface="Inter Bold" pitchFamily="34" charset="-120"/>
              </a:rPr>
              <a:t>SDWAN VPN </a:t>
            </a:r>
            <a:endParaRPr lang="en-US" sz="1250" dirty="0"/>
          </a:p>
        </p:txBody>
      </p:sp>
      <p:sp>
        <p:nvSpPr>
          <p:cNvPr id="9" name="Text 6"/>
          <p:cNvSpPr/>
          <p:nvPr/>
        </p:nvSpPr>
        <p:spPr>
          <a:xfrm>
            <a:off x="6079688" y="2335768"/>
            <a:ext cx="8098750" cy="210026"/>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272525"/>
                </a:solidFill>
                <a:latin typeface="Inter" pitchFamily="34" charset="0"/>
                <a:ea typeface="Inter" pitchFamily="34" charset="-122"/>
                <a:cs typeface="Inter" pitchFamily="34" charset="-120"/>
              </a:rPr>
              <a:t>SDWAN Configured by GUI </a:t>
            </a:r>
            <a:endParaRPr lang="en-US" sz="1000" dirty="0"/>
          </a:p>
        </p:txBody>
      </p:sp>
      <p:sp>
        <p:nvSpPr>
          <p:cNvPr id="10" name="Text 7"/>
          <p:cNvSpPr/>
          <p:nvPr/>
        </p:nvSpPr>
        <p:spPr>
          <a:xfrm>
            <a:off x="6079688" y="2663904"/>
            <a:ext cx="8098750" cy="210026"/>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Network→SDWAN→Create Members </a:t>
            </a:r>
            <a:endParaRPr lang="en-US" sz="1000" dirty="0"/>
          </a:p>
        </p:txBody>
      </p:sp>
      <p:sp>
        <p:nvSpPr>
          <p:cNvPr id="11" name="Text 8"/>
          <p:cNvSpPr/>
          <p:nvPr/>
        </p:nvSpPr>
        <p:spPr>
          <a:xfrm>
            <a:off x="6079688" y="3103602"/>
            <a:ext cx="131207" cy="164068"/>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Light" pitchFamily="34" charset="0"/>
                <a:ea typeface="Inter Light" pitchFamily="34" charset="-122"/>
                <a:cs typeface="Inter Light" pitchFamily="34" charset="-120"/>
              </a:rPr>
              <a:t>02</a:t>
            </a:r>
            <a:endParaRPr lang="en-US" sz="1000" dirty="0"/>
          </a:p>
        </p:txBody>
      </p:sp>
      <p:sp>
        <p:nvSpPr>
          <p:cNvPr id="12" name="Shape 9"/>
          <p:cNvSpPr/>
          <p:nvPr/>
        </p:nvSpPr>
        <p:spPr>
          <a:xfrm>
            <a:off x="6079688" y="3311366"/>
            <a:ext cx="8098750" cy="15240"/>
          </a:xfrm>
          <a:prstGeom prst="rect">
            <a:avLst/>
          </a:prstGeom>
          <a:solidFill>
            <a:srgbClr val="4950BC"/>
          </a:solidFill>
          <a:ln/>
        </p:spPr>
      </p:sp>
      <p:sp>
        <p:nvSpPr>
          <p:cNvPr id="13" name="Text 10"/>
          <p:cNvSpPr/>
          <p:nvPr/>
        </p:nvSpPr>
        <p:spPr>
          <a:xfrm>
            <a:off x="6079688" y="3407450"/>
            <a:ext cx="1845588" cy="205026"/>
          </a:xfrm>
          <a:prstGeom prst="rect">
            <a:avLst/>
          </a:prstGeom>
          <a:noFill/>
          <a:ln/>
        </p:spPr>
        <p:txBody>
          <a:bodyPr wrap="none" lIns="0" tIns="0" rIns="0" bIns="0" rtlCol="0" anchor="t"/>
          <a:lstStyle/>
          <a:p>
            <a:pPr algn="l" indent="0" marL="0">
              <a:lnSpc>
                <a:spcPts val="1600"/>
              </a:lnSpc>
              <a:buNone/>
            </a:pPr>
            <a:r>
              <a:rPr lang="en-US" sz="1250" b="1" dirty="0">
                <a:solidFill>
                  <a:srgbClr val="272525"/>
                </a:solidFill>
                <a:latin typeface="Inter Bold" pitchFamily="34" charset="0"/>
                <a:ea typeface="Inter Bold" pitchFamily="34" charset="-122"/>
                <a:cs typeface="Inter Bold" pitchFamily="34" charset="-120"/>
              </a:rPr>
              <a:t>Create 2 IPSec Tunnels</a:t>
            </a:r>
            <a:endParaRPr lang="en-US" sz="1250" dirty="0"/>
          </a:p>
        </p:txBody>
      </p:sp>
      <p:sp>
        <p:nvSpPr>
          <p:cNvPr id="14" name="Text 11"/>
          <p:cNvSpPr/>
          <p:nvPr/>
        </p:nvSpPr>
        <p:spPr>
          <a:xfrm>
            <a:off x="6079688" y="3743682"/>
            <a:ext cx="8098750" cy="210026"/>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272525"/>
                </a:solidFill>
                <a:latin typeface="Inter" pitchFamily="34" charset="0"/>
                <a:ea typeface="Inter" pitchFamily="34" charset="-122"/>
                <a:cs typeface="Inter" pitchFamily="34" charset="-120"/>
              </a:rPr>
              <a:t>Create Phase 1 and Phase 2 with the remote IPs and configring Preshared Key</a:t>
            </a:r>
            <a:endParaRPr lang="en-US" sz="1000" dirty="0"/>
          </a:p>
        </p:txBody>
      </p:sp>
      <p:sp>
        <p:nvSpPr>
          <p:cNvPr id="15" name="Text 12"/>
          <p:cNvSpPr/>
          <p:nvPr/>
        </p:nvSpPr>
        <p:spPr>
          <a:xfrm>
            <a:off x="6079688" y="4183380"/>
            <a:ext cx="131207" cy="164068"/>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Light" pitchFamily="34" charset="0"/>
                <a:ea typeface="Inter Light" pitchFamily="34" charset="-122"/>
                <a:cs typeface="Inter Light" pitchFamily="34" charset="-120"/>
              </a:rPr>
              <a:t>03</a:t>
            </a:r>
            <a:endParaRPr lang="en-US" sz="1000" dirty="0"/>
          </a:p>
        </p:txBody>
      </p:sp>
      <p:sp>
        <p:nvSpPr>
          <p:cNvPr id="16" name="Shape 13"/>
          <p:cNvSpPr/>
          <p:nvPr/>
        </p:nvSpPr>
        <p:spPr>
          <a:xfrm>
            <a:off x="6079688" y="4391144"/>
            <a:ext cx="8098750" cy="15240"/>
          </a:xfrm>
          <a:prstGeom prst="rect">
            <a:avLst/>
          </a:prstGeom>
          <a:solidFill>
            <a:srgbClr val="4950BC"/>
          </a:solidFill>
          <a:ln/>
        </p:spPr>
      </p:sp>
      <p:sp>
        <p:nvSpPr>
          <p:cNvPr id="17" name="Text 14"/>
          <p:cNvSpPr/>
          <p:nvPr/>
        </p:nvSpPr>
        <p:spPr>
          <a:xfrm>
            <a:off x="6079688" y="4487228"/>
            <a:ext cx="2382798" cy="205026"/>
          </a:xfrm>
          <a:prstGeom prst="rect">
            <a:avLst/>
          </a:prstGeom>
          <a:noFill/>
          <a:ln/>
        </p:spPr>
        <p:txBody>
          <a:bodyPr wrap="none" lIns="0" tIns="0" rIns="0" bIns="0" rtlCol="0" anchor="t"/>
          <a:lstStyle/>
          <a:p>
            <a:pPr algn="l" indent="0" marL="0">
              <a:lnSpc>
                <a:spcPts val="1600"/>
              </a:lnSpc>
              <a:buNone/>
            </a:pPr>
            <a:r>
              <a:rPr lang="en-US" sz="1250" b="1" dirty="0">
                <a:solidFill>
                  <a:srgbClr val="272525"/>
                </a:solidFill>
                <a:latin typeface="Inter Bold" pitchFamily="34" charset="0"/>
                <a:ea typeface="Inter Bold" pitchFamily="34" charset="-122"/>
                <a:cs typeface="Inter Bold" pitchFamily="34" charset="-120"/>
              </a:rPr>
              <a:t>Phase 2 Configuration (IPsec)</a:t>
            </a:r>
            <a:endParaRPr lang="en-US" sz="1250" dirty="0"/>
          </a:p>
        </p:txBody>
      </p:sp>
      <p:sp>
        <p:nvSpPr>
          <p:cNvPr id="18" name="Text 15"/>
          <p:cNvSpPr/>
          <p:nvPr/>
        </p:nvSpPr>
        <p:spPr>
          <a:xfrm>
            <a:off x="6079688" y="4823460"/>
            <a:ext cx="8098750" cy="210026"/>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272525"/>
                </a:solidFill>
                <a:latin typeface="Inter" pitchFamily="34" charset="0"/>
                <a:ea typeface="Inter" pitchFamily="34" charset="-122"/>
                <a:cs typeface="Inter" pitchFamily="34" charset="-120"/>
              </a:rPr>
              <a:t>Set up the IPsec tunnel to secure data transfer, defining proxies, protocols, encryption algorithms and the 2 networks.</a:t>
            </a:r>
            <a:endParaRPr lang="en-US" sz="1000" dirty="0"/>
          </a:p>
        </p:txBody>
      </p:sp>
      <p:sp>
        <p:nvSpPr>
          <p:cNvPr id="19" name="Text 16"/>
          <p:cNvSpPr/>
          <p:nvPr/>
        </p:nvSpPr>
        <p:spPr>
          <a:xfrm>
            <a:off x="6079688" y="5263158"/>
            <a:ext cx="131207" cy="164068"/>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Light" pitchFamily="34" charset="0"/>
                <a:ea typeface="Inter Light" pitchFamily="34" charset="-122"/>
                <a:cs typeface="Inter Light" pitchFamily="34" charset="-120"/>
              </a:rPr>
              <a:t>04</a:t>
            </a:r>
            <a:endParaRPr lang="en-US" sz="1000" dirty="0"/>
          </a:p>
        </p:txBody>
      </p:sp>
      <p:sp>
        <p:nvSpPr>
          <p:cNvPr id="20" name="Shape 17"/>
          <p:cNvSpPr/>
          <p:nvPr/>
        </p:nvSpPr>
        <p:spPr>
          <a:xfrm>
            <a:off x="6079688" y="5470922"/>
            <a:ext cx="8098750" cy="15240"/>
          </a:xfrm>
          <a:prstGeom prst="rect">
            <a:avLst/>
          </a:prstGeom>
          <a:solidFill>
            <a:srgbClr val="4950BC"/>
          </a:solidFill>
          <a:ln/>
        </p:spPr>
      </p:sp>
      <p:sp>
        <p:nvSpPr>
          <p:cNvPr id="21" name="Text 18"/>
          <p:cNvSpPr/>
          <p:nvPr/>
        </p:nvSpPr>
        <p:spPr>
          <a:xfrm>
            <a:off x="6079688" y="5567005"/>
            <a:ext cx="1641038" cy="205026"/>
          </a:xfrm>
          <a:prstGeom prst="rect">
            <a:avLst/>
          </a:prstGeom>
          <a:noFill/>
          <a:ln/>
        </p:spPr>
        <p:txBody>
          <a:bodyPr wrap="none" lIns="0" tIns="0" rIns="0" bIns="0" rtlCol="0" anchor="t"/>
          <a:lstStyle/>
          <a:p>
            <a:pPr algn="l" indent="0" marL="0">
              <a:lnSpc>
                <a:spcPts val="1600"/>
              </a:lnSpc>
              <a:buNone/>
            </a:pPr>
            <a:r>
              <a:rPr lang="en-US" sz="1250" b="1" dirty="0">
                <a:solidFill>
                  <a:srgbClr val="272525"/>
                </a:solidFill>
                <a:latin typeface="Inter Bold" pitchFamily="34" charset="0"/>
                <a:ea typeface="Inter Bold" pitchFamily="34" charset="-122"/>
                <a:cs typeface="Inter Bold" pitchFamily="34" charset="-120"/>
              </a:rPr>
              <a:t>Routing &amp; Policies</a:t>
            </a:r>
            <a:endParaRPr lang="en-US" sz="1250" dirty="0"/>
          </a:p>
        </p:txBody>
      </p:sp>
      <p:sp>
        <p:nvSpPr>
          <p:cNvPr id="22" name="Text 19"/>
          <p:cNvSpPr/>
          <p:nvPr/>
        </p:nvSpPr>
        <p:spPr>
          <a:xfrm>
            <a:off x="6079688" y="5903238"/>
            <a:ext cx="8098750" cy="210026"/>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272525"/>
                </a:solidFill>
                <a:latin typeface="Inter" pitchFamily="34" charset="0"/>
                <a:ea typeface="Inter" pitchFamily="34" charset="-122"/>
                <a:cs typeface="Inter" pitchFamily="34" charset="-120"/>
              </a:rPr>
              <a:t>Implement static routes and firewall policies to allow traffic to traverse the SDWAN IPsec VPN tunnels securely.</a:t>
            </a:r>
            <a:endParaRPr lang="en-US" sz="1000" dirty="0"/>
          </a:p>
        </p:txBody>
      </p:sp>
      <p:sp>
        <p:nvSpPr>
          <p:cNvPr id="23" name="Text 20"/>
          <p:cNvSpPr/>
          <p:nvPr/>
        </p:nvSpPr>
        <p:spPr>
          <a:xfrm>
            <a:off x="6079688" y="6359366"/>
            <a:ext cx="8098750" cy="210026"/>
          </a:xfrm>
          <a:prstGeom prst="rect">
            <a:avLst/>
          </a:prstGeom>
          <a:noFill/>
          <a:ln/>
        </p:spPr>
        <p:txBody>
          <a:bodyPr wrap="none" lIns="0" tIns="0" rIns="0" bIns="0" rtlCol="0" anchor="t"/>
          <a:lstStyle/>
          <a:p>
            <a:pPr algn="l" indent="0" marL="0">
              <a:lnSpc>
                <a:spcPts val="1650"/>
              </a:lnSpc>
              <a:buNone/>
            </a:pPr>
            <a:r>
              <a:rPr lang="en-US" sz="1000" dirty="0">
                <a:solidFill>
                  <a:srgbClr val="272525"/>
                </a:solidFill>
                <a:latin typeface="Inter" pitchFamily="34" charset="0"/>
                <a:ea typeface="Inter" pitchFamily="34" charset="-122"/>
                <a:cs typeface="Inter" pitchFamily="34" charset="-120"/>
              </a:rPr>
              <a:t>05</a:t>
            </a:r>
            <a:endParaRPr lang="en-US" sz="1000" dirty="0"/>
          </a:p>
        </p:txBody>
      </p:sp>
      <p:sp>
        <p:nvSpPr>
          <p:cNvPr id="24" name="Shape 21"/>
          <p:cNvSpPr/>
          <p:nvPr/>
        </p:nvSpPr>
        <p:spPr>
          <a:xfrm>
            <a:off x="6079688" y="6782595"/>
            <a:ext cx="8098750" cy="23932"/>
          </a:xfrm>
          <a:prstGeom prst="rect">
            <a:avLst/>
          </a:prstGeom>
          <a:solidFill>
            <a:srgbClr val="272525">
              <a:alpha val="50000"/>
            </a:srgbClr>
          </a:solidFill>
          <a:ln/>
        </p:spPr>
      </p:sp>
      <p:sp>
        <p:nvSpPr>
          <p:cNvPr id="25" name="Text 22"/>
          <p:cNvSpPr/>
          <p:nvPr/>
        </p:nvSpPr>
        <p:spPr>
          <a:xfrm>
            <a:off x="6079688" y="6954083"/>
            <a:ext cx="2484477" cy="205026"/>
          </a:xfrm>
          <a:prstGeom prst="rect">
            <a:avLst/>
          </a:prstGeom>
          <a:noFill/>
          <a:ln/>
        </p:spPr>
        <p:txBody>
          <a:bodyPr wrap="none" lIns="0" tIns="0" rIns="0" bIns="0" rtlCol="0" anchor="t"/>
          <a:lstStyle/>
          <a:p>
            <a:pPr algn="l" indent="0" marL="0">
              <a:lnSpc>
                <a:spcPts val="1600"/>
              </a:lnSpc>
              <a:buNone/>
            </a:pPr>
            <a:r>
              <a:rPr lang="en-US" sz="1250" b="1" dirty="0">
                <a:solidFill>
                  <a:srgbClr val="000000"/>
                </a:solidFill>
                <a:latin typeface="Inter Bold" pitchFamily="34" charset="0"/>
                <a:ea typeface="Inter Bold" pitchFamily="34" charset="-122"/>
                <a:cs typeface="Inter Bold" pitchFamily="34" charset="-120"/>
              </a:rPr>
              <a:t>Configuring SLA &amp; SDWAN rule</a:t>
            </a:r>
            <a:endParaRPr lang="en-US" sz="1250" dirty="0"/>
          </a:p>
        </p:txBody>
      </p:sp>
      <p:sp>
        <p:nvSpPr>
          <p:cNvPr id="26" name="Text 23"/>
          <p:cNvSpPr/>
          <p:nvPr/>
        </p:nvSpPr>
        <p:spPr>
          <a:xfrm>
            <a:off x="6079688" y="7290316"/>
            <a:ext cx="8098750" cy="210026"/>
          </a:xfrm>
          <a:prstGeom prst="rect">
            <a:avLst/>
          </a:prstGeom>
          <a:noFill/>
          <a:ln/>
        </p:spPr>
        <p:txBody>
          <a:bodyPr wrap="none" lIns="0" tIns="0" rIns="0" bIns="0" rtlCol="0" anchor="t"/>
          <a:lstStyle/>
          <a:p>
            <a:pPr algn="l" marL="342900" indent="-342900">
              <a:lnSpc>
                <a:spcPts val="1650"/>
              </a:lnSpc>
              <a:buSzPct val="100000"/>
              <a:buChar char="•"/>
            </a:pPr>
            <a:r>
              <a:rPr lang="en-US" sz="1000" dirty="0">
                <a:solidFill>
                  <a:srgbClr val="272525"/>
                </a:solidFill>
                <a:latin typeface="Inter" pitchFamily="34" charset="0"/>
                <a:ea typeface="Inter" pitchFamily="34" charset="-122"/>
                <a:cs typeface="Inter" pitchFamily="34" charset="-120"/>
              </a:rPr>
              <a:t>Implement static routes and firewall policies to allow traffic to traverse the SDWAN IPsec VPN tunnels securely.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2337" y="474226"/>
            <a:ext cx="11057453" cy="430173"/>
          </a:xfrm>
          <a:prstGeom prst="rect">
            <a:avLst/>
          </a:prstGeom>
          <a:noFill/>
          <a:ln/>
        </p:spPr>
        <p:txBody>
          <a:bodyPr wrap="none" lIns="0" tIns="0" rIns="0" bIns="0" rtlCol="0" anchor="t"/>
          <a:lstStyle/>
          <a:p>
            <a:pPr algn="l" indent="0" marL="0">
              <a:lnSpc>
                <a:spcPts val="3350"/>
              </a:lnSpc>
              <a:buNone/>
            </a:pPr>
            <a:r>
              <a:rPr lang="en-US" sz="2700" b="1" dirty="0">
                <a:solidFill>
                  <a:srgbClr val="000000"/>
                </a:solidFill>
                <a:latin typeface="Inter Bold" pitchFamily="34" charset="0"/>
                <a:ea typeface="Inter Bold" pitchFamily="34" charset="-122"/>
                <a:cs typeface="Inter Bold" pitchFamily="34" charset="-120"/>
              </a:rPr>
              <a:t>Deliverable: Week 2 &amp; 3 -  SDWAN Over IPsec VPN Documentation</a:t>
            </a:r>
            <a:endParaRPr lang="en-US" sz="2700" dirty="0"/>
          </a:p>
        </p:txBody>
      </p:sp>
      <p:sp>
        <p:nvSpPr>
          <p:cNvPr id="3" name="Text 1"/>
          <p:cNvSpPr/>
          <p:nvPr/>
        </p:nvSpPr>
        <p:spPr>
          <a:xfrm>
            <a:off x="602337" y="1162526"/>
            <a:ext cx="13425726" cy="275392"/>
          </a:xfrm>
          <a:prstGeom prst="rect">
            <a:avLst/>
          </a:prstGeom>
          <a:noFill/>
          <a:ln/>
        </p:spPr>
        <p:txBody>
          <a:bodyPr wrap="none" lIns="0" tIns="0" rIns="0" bIns="0" rtlCol="0" anchor="t"/>
          <a:lstStyle/>
          <a:p>
            <a:pPr algn="l" indent="0" marL="0">
              <a:lnSpc>
                <a:spcPts val="2150"/>
              </a:lnSpc>
              <a:buNone/>
            </a:pPr>
            <a:r>
              <a:rPr lang="en-US" sz="1350" dirty="0">
                <a:solidFill>
                  <a:srgbClr val="272525"/>
                </a:solidFill>
                <a:latin typeface="Inter" pitchFamily="34" charset="0"/>
                <a:ea typeface="Inter" pitchFamily="34" charset="-122"/>
                <a:cs typeface="Inter" pitchFamily="34" charset="-120"/>
              </a:rPr>
              <a:t>→GNS3 </a:t>
            </a:r>
            <a:endParaRPr lang="en-US" sz="1350" dirty="0"/>
          </a:p>
        </p:txBody>
      </p:sp>
      <p:pic>
        <p:nvPicPr>
          <p:cNvPr id="4" name="Image 0" descr="preencoded.png">    </p:cNvPr>
          <p:cNvPicPr>
            <a:picLocks noChangeAspect="1"/>
          </p:cNvPicPr>
          <p:nvPr/>
        </p:nvPicPr>
        <p:blipFill>
          <a:blip r:embed="rId1"/>
          <a:stretch>
            <a:fillRect/>
          </a:stretch>
        </p:blipFill>
        <p:spPr>
          <a:xfrm>
            <a:off x="602337" y="1631513"/>
            <a:ext cx="7506057" cy="5185767"/>
          </a:xfrm>
          <a:prstGeom prst="rect">
            <a:avLst/>
          </a:prstGeom>
        </p:spPr>
      </p:pic>
      <p:sp>
        <p:nvSpPr>
          <p:cNvPr id="5" name="Text 2"/>
          <p:cNvSpPr/>
          <p:nvPr/>
        </p:nvSpPr>
        <p:spPr>
          <a:xfrm>
            <a:off x="602337" y="7010876"/>
            <a:ext cx="13425726" cy="275392"/>
          </a:xfrm>
          <a:prstGeom prst="rect">
            <a:avLst/>
          </a:prstGeom>
          <a:noFill/>
          <a:ln/>
        </p:spPr>
        <p:txBody>
          <a:bodyPr wrap="none" lIns="0" tIns="0" rIns="0" bIns="0" rtlCol="0" anchor="t"/>
          <a:lstStyle/>
          <a:p>
            <a:pPr algn="l" indent="0" marL="0">
              <a:lnSpc>
                <a:spcPts val="2150"/>
              </a:lnSpc>
              <a:buNone/>
            </a:pPr>
            <a:endParaRPr lang="en-US" sz="1350" dirty="0"/>
          </a:p>
        </p:txBody>
      </p:sp>
      <p:sp>
        <p:nvSpPr>
          <p:cNvPr id="6" name="Text 3"/>
          <p:cNvSpPr/>
          <p:nvPr/>
        </p:nvSpPr>
        <p:spPr>
          <a:xfrm>
            <a:off x="602337" y="7479863"/>
            <a:ext cx="13425726" cy="275392"/>
          </a:xfrm>
          <a:prstGeom prst="rect">
            <a:avLst/>
          </a:prstGeom>
          <a:noFill/>
          <a:ln/>
        </p:spPr>
        <p:txBody>
          <a:bodyPr wrap="none" lIns="0" tIns="0" rIns="0" bIns="0" rtlCol="0" anchor="t"/>
          <a:lstStyle/>
          <a:p>
            <a:pPr algn="l" indent="0" marL="0">
              <a:lnSpc>
                <a:spcPts val="2150"/>
              </a:lnSpc>
              <a:buNone/>
            </a:pP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1842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163479"/>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1: SSLVPN settings Net LAN 192.168.3.0 (Branch)</a:t>
            </a:r>
            <a:endParaRPr lang="en-US" sz="4450" dirty="0"/>
          </a:p>
        </p:txBody>
      </p:sp>
      <p:pic>
        <p:nvPicPr>
          <p:cNvPr id="4" name="Image 0" descr="preencoded.png">    </p:cNvPr>
          <p:cNvPicPr>
            <a:picLocks noChangeAspect="1"/>
          </p:cNvPicPr>
          <p:nvPr/>
        </p:nvPicPr>
        <p:blipFill>
          <a:blip r:embed="rId1"/>
          <a:stretch>
            <a:fillRect/>
          </a:stretch>
        </p:blipFill>
        <p:spPr>
          <a:xfrm>
            <a:off x="793790" y="3176349"/>
            <a:ext cx="6244709" cy="3512582"/>
          </a:xfrm>
          <a:prstGeom prst="rect">
            <a:avLst/>
          </a:prstGeom>
        </p:spPr>
      </p:pic>
      <p:sp>
        <p:nvSpPr>
          <p:cNvPr id="5" name="Text 2"/>
          <p:cNvSpPr/>
          <p:nvPr/>
        </p:nvSpPr>
        <p:spPr>
          <a:xfrm>
            <a:off x="793790" y="6944082"/>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6" name="Text 3"/>
          <p:cNvSpPr/>
          <p:nvPr/>
        </p:nvSpPr>
        <p:spPr>
          <a:xfrm>
            <a:off x="7599521" y="3125272"/>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35636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801416"/>
            <a:ext cx="11894344"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2 &amp; 3: Cont Net LAN 192.168.2.0 (HQ)</a:t>
            </a:r>
            <a:endParaRPr lang="en-US" sz="4450" dirty="0"/>
          </a:p>
        </p:txBody>
      </p:sp>
      <p:pic>
        <p:nvPicPr>
          <p:cNvPr id="4" name="Image 0" descr="preencoded.png">    </p:cNvPr>
          <p:cNvPicPr>
            <a:picLocks noChangeAspect="1"/>
          </p:cNvPicPr>
          <p:nvPr/>
        </p:nvPicPr>
        <p:blipFill>
          <a:blip r:embed="rId1"/>
          <a:stretch>
            <a:fillRect/>
          </a:stretch>
        </p:blipFill>
        <p:spPr>
          <a:xfrm>
            <a:off x="793790" y="3105507"/>
            <a:ext cx="6244709" cy="3512582"/>
          </a:xfrm>
          <a:prstGeom prst="rect">
            <a:avLst/>
          </a:prstGeom>
        </p:spPr>
      </p:pic>
      <p:pic>
        <p:nvPicPr>
          <p:cNvPr id="5" name="Image 1" descr="preencoded.png">    </p:cNvPr>
          <p:cNvPicPr>
            <a:picLocks noChangeAspect="1"/>
          </p:cNvPicPr>
          <p:nvPr/>
        </p:nvPicPr>
        <p:blipFill>
          <a:blip r:embed="rId2"/>
          <a:stretch>
            <a:fillRect/>
          </a:stretch>
        </p:blipFill>
        <p:spPr>
          <a:xfrm>
            <a:off x="7599521" y="3105507"/>
            <a:ext cx="6244709" cy="35125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356360"/>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801416"/>
            <a:ext cx="12981265"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2 &amp; 3: Cont Net LAN 192.168.3.0 (Branch)</a:t>
            </a:r>
            <a:endParaRPr lang="en-US" sz="4450" dirty="0"/>
          </a:p>
        </p:txBody>
      </p:sp>
      <p:pic>
        <p:nvPicPr>
          <p:cNvPr id="4" name="Image 0" descr="preencoded.png">    </p:cNvPr>
          <p:cNvPicPr>
            <a:picLocks noChangeAspect="1"/>
          </p:cNvPicPr>
          <p:nvPr/>
        </p:nvPicPr>
        <p:blipFill>
          <a:blip r:embed="rId1"/>
          <a:stretch>
            <a:fillRect/>
          </a:stretch>
        </p:blipFill>
        <p:spPr>
          <a:xfrm>
            <a:off x="793790" y="3105507"/>
            <a:ext cx="6244709" cy="3512582"/>
          </a:xfrm>
          <a:prstGeom prst="rect">
            <a:avLst/>
          </a:prstGeom>
        </p:spPr>
      </p:pic>
      <p:pic>
        <p:nvPicPr>
          <p:cNvPr id="5" name="Image 1" descr="preencoded.png">    </p:cNvPr>
          <p:cNvPicPr>
            <a:picLocks noChangeAspect="1"/>
          </p:cNvPicPr>
          <p:nvPr/>
        </p:nvPicPr>
        <p:blipFill>
          <a:blip r:embed="rId2"/>
          <a:stretch>
            <a:fillRect/>
          </a:stretch>
        </p:blipFill>
        <p:spPr>
          <a:xfrm>
            <a:off x="7599521" y="3105507"/>
            <a:ext cx="6244709" cy="35125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29590" y="416362"/>
            <a:ext cx="10506432" cy="378262"/>
          </a:xfrm>
          <a:prstGeom prst="rect">
            <a:avLst/>
          </a:prstGeom>
          <a:noFill/>
          <a:ln/>
        </p:spPr>
        <p:txBody>
          <a:bodyPr wrap="none" lIns="0" tIns="0" rIns="0" bIns="0" rtlCol="0" anchor="t"/>
          <a:lstStyle/>
          <a:p>
            <a:pPr algn="l" indent="0" marL="0">
              <a:lnSpc>
                <a:spcPts val="2950"/>
              </a:lnSpc>
              <a:buNone/>
            </a:pPr>
            <a:r>
              <a:rPr lang="en-US" sz="2350" b="1" dirty="0">
                <a:solidFill>
                  <a:srgbClr val="000000"/>
                </a:solidFill>
                <a:latin typeface="Inter Bold" pitchFamily="34" charset="0"/>
                <a:ea typeface="Inter Bold" pitchFamily="34" charset="-122"/>
                <a:cs typeface="Inter Bold" pitchFamily="34" charset="-120"/>
              </a:rPr>
              <a:t>Deliverable: Week 2 &amp; 3 Cont -  SDWAN Over IPsec VPN Documentation</a:t>
            </a:r>
            <a:endParaRPr lang="en-US" sz="2350" dirty="0"/>
          </a:p>
        </p:txBody>
      </p:sp>
      <p:sp>
        <p:nvSpPr>
          <p:cNvPr id="3" name="Text 1"/>
          <p:cNvSpPr/>
          <p:nvPr/>
        </p:nvSpPr>
        <p:spPr>
          <a:xfrm>
            <a:off x="529590" y="1021556"/>
            <a:ext cx="13571220" cy="242054"/>
          </a:xfrm>
          <a:prstGeom prst="rect">
            <a:avLst/>
          </a:prstGeom>
          <a:noFill/>
          <a:ln/>
        </p:spPr>
        <p:txBody>
          <a:bodyPr wrap="none" lIns="0" tIns="0" rIns="0" bIns="0" rtlCol="0" anchor="t"/>
          <a:lstStyle/>
          <a:p>
            <a:pPr algn="l" indent="0" marL="0">
              <a:lnSpc>
                <a:spcPts val="1900"/>
              </a:lnSpc>
              <a:buNone/>
            </a:pPr>
            <a:r>
              <a:rPr lang="en-US" sz="1150" dirty="0">
                <a:solidFill>
                  <a:srgbClr val="272525"/>
                </a:solidFill>
                <a:latin typeface="Inter" pitchFamily="34" charset="0"/>
                <a:ea typeface="Inter" pitchFamily="34" charset="-122"/>
                <a:cs typeface="Inter" pitchFamily="34" charset="-120"/>
              </a:rPr>
              <a:t>→VMWare WorkStation </a:t>
            </a:r>
            <a:endParaRPr lang="en-US" sz="1150" dirty="0"/>
          </a:p>
        </p:txBody>
      </p:sp>
      <p:pic>
        <p:nvPicPr>
          <p:cNvPr id="4" name="Image 0" descr="preencoded.png">    </p:cNvPr>
          <p:cNvPicPr>
            <a:picLocks noChangeAspect="1"/>
          </p:cNvPicPr>
          <p:nvPr/>
        </p:nvPicPr>
        <p:blipFill>
          <a:blip r:embed="rId1"/>
          <a:stretch>
            <a:fillRect/>
          </a:stretch>
        </p:blipFill>
        <p:spPr>
          <a:xfrm>
            <a:off x="4676418" y="1603891"/>
            <a:ext cx="3186351" cy="5627013"/>
          </a:xfrm>
          <a:prstGeom prst="rect">
            <a:avLst/>
          </a:prstGeom>
        </p:spPr>
      </p:pic>
      <p:sp>
        <p:nvSpPr>
          <p:cNvPr id="5" name="Text 2"/>
          <p:cNvSpPr/>
          <p:nvPr/>
        </p:nvSpPr>
        <p:spPr>
          <a:xfrm>
            <a:off x="12386429" y="1569839"/>
            <a:ext cx="1721882" cy="242054"/>
          </a:xfrm>
          <a:prstGeom prst="rect">
            <a:avLst/>
          </a:prstGeom>
          <a:noFill/>
          <a:ln/>
        </p:spPr>
        <p:txBody>
          <a:bodyPr wrap="none" lIns="0" tIns="0" rIns="0" bIns="0" rtlCol="0" anchor="t"/>
          <a:lstStyle/>
          <a:p>
            <a:pPr algn="l" indent="0" marL="0">
              <a:lnSpc>
                <a:spcPts val="1900"/>
              </a:lnSpc>
              <a:buNone/>
            </a:pPr>
            <a:endParaRPr lang="en-US" sz="1150" dirty="0"/>
          </a:p>
        </p:txBody>
      </p:sp>
      <p:sp>
        <p:nvSpPr>
          <p:cNvPr id="6" name="Text 3"/>
          <p:cNvSpPr/>
          <p:nvPr/>
        </p:nvSpPr>
        <p:spPr>
          <a:xfrm>
            <a:off x="529590" y="7571184"/>
            <a:ext cx="13571220" cy="242054"/>
          </a:xfrm>
          <a:prstGeom prst="rect">
            <a:avLst/>
          </a:prstGeom>
          <a:noFill/>
          <a:ln/>
        </p:spPr>
        <p:txBody>
          <a:bodyPr wrap="none" lIns="0" tIns="0" rIns="0" bIns="0" rtlCol="0" anchor="t"/>
          <a:lstStyle/>
          <a:p>
            <a:pPr algn="l" indent="0" marL="0">
              <a:lnSpc>
                <a:spcPts val="1900"/>
              </a:lnSpc>
              <a:buNone/>
            </a:pP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25075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695807"/>
            <a:ext cx="10102929"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1: SSLVPN Net Site HQ Firewall</a:t>
            </a:r>
            <a:endParaRPr lang="en-US" sz="4450" dirty="0"/>
          </a:p>
        </p:txBody>
      </p:sp>
      <p:pic>
        <p:nvPicPr>
          <p:cNvPr id="4" name="Image 0" descr="preencoded.png">    </p:cNvPr>
          <p:cNvPicPr>
            <a:picLocks noChangeAspect="1"/>
          </p:cNvPicPr>
          <p:nvPr/>
        </p:nvPicPr>
        <p:blipFill>
          <a:blip r:embed="rId1"/>
          <a:stretch>
            <a:fillRect/>
          </a:stretch>
        </p:blipFill>
        <p:spPr>
          <a:xfrm>
            <a:off x="793790" y="2999899"/>
            <a:ext cx="6244709" cy="3723680"/>
          </a:xfrm>
          <a:prstGeom prst="rect">
            <a:avLst/>
          </a:prstGeom>
        </p:spPr>
      </p:pic>
      <p:sp>
        <p:nvSpPr>
          <p:cNvPr id="5" name="Text 2"/>
          <p:cNvSpPr/>
          <p:nvPr/>
        </p:nvSpPr>
        <p:spPr>
          <a:xfrm>
            <a:off x="7599521" y="2948821"/>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241822"/>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686878"/>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2 &amp; 3: IPSec tunnels Net Site HQ &amp; Branch</a:t>
            </a:r>
            <a:endParaRPr lang="en-US" sz="4450" dirty="0"/>
          </a:p>
        </p:txBody>
      </p:sp>
      <p:pic>
        <p:nvPicPr>
          <p:cNvPr id="4" name="Image 0" descr="preencoded.png">    </p:cNvPr>
          <p:cNvPicPr>
            <a:picLocks noChangeAspect="1"/>
          </p:cNvPicPr>
          <p:nvPr/>
        </p:nvPicPr>
        <p:blipFill>
          <a:blip r:embed="rId1"/>
          <a:stretch>
            <a:fillRect/>
          </a:stretch>
        </p:blipFill>
        <p:spPr>
          <a:xfrm>
            <a:off x="793790" y="3699748"/>
            <a:ext cx="6244709" cy="1761292"/>
          </a:xfrm>
          <a:prstGeom prst="rect">
            <a:avLst/>
          </a:prstGeom>
        </p:spPr>
      </p:pic>
      <p:sp>
        <p:nvSpPr>
          <p:cNvPr id="5" name="Text 2"/>
          <p:cNvSpPr/>
          <p:nvPr/>
        </p:nvSpPr>
        <p:spPr>
          <a:xfrm>
            <a:off x="793790" y="5716191"/>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6" name="Text 3"/>
          <p:cNvSpPr/>
          <p:nvPr/>
        </p:nvSpPr>
        <p:spPr>
          <a:xfrm>
            <a:off x="7599521" y="3648670"/>
            <a:ext cx="6244709" cy="362903"/>
          </a:xfrm>
          <a:prstGeom prst="rect">
            <a:avLst/>
          </a:prstGeom>
          <a:noFill/>
          <a:ln/>
        </p:spPr>
        <p:txBody>
          <a:bodyPr wrap="none" lIns="0" tIns="0" rIns="0" bIns="0" rtlCol="0" anchor="t"/>
          <a:lstStyle/>
          <a:p>
            <a:pPr algn="l" indent="0" marL="0">
              <a:lnSpc>
                <a:spcPts val="2850"/>
              </a:lnSpc>
              <a:buNone/>
            </a:pPr>
            <a:endParaRPr lang="en-US" sz="1750" dirty="0"/>
          </a:p>
        </p:txBody>
      </p:sp>
      <p:pic>
        <p:nvPicPr>
          <p:cNvPr id="7" name="Image 1" descr="preencoded.png">    </p:cNvPr>
          <p:cNvPicPr>
            <a:picLocks noChangeAspect="1"/>
          </p:cNvPicPr>
          <p:nvPr/>
        </p:nvPicPr>
        <p:blipFill>
          <a:blip r:embed="rId2"/>
          <a:stretch>
            <a:fillRect/>
          </a:stretch>
        </p:blipFill>
        <p:spPr>
          <a:xfrm>
            <a:off x="7599521" y="4266724"/>
            <a:ext cx="6244709" cy="24657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310283"/>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000000"/>
                </a:solidFill>
                <a:latin typeface="Inter Bold" pitchFamily="34" charset="0"/>
                <a:ea typeface="Inter Bold" pitchFamily="34" charset="-122"/>
                <a:cs typeface="Inter Bold" pitchFamily="34" charset="-120"/>
              </a:rPr>
              <a:t>Chapter Testing </a:t>
            </a:r>
            <a:endParaRPr lang="en-US" sz="2200" dirty="0"/>
          </a:p>
        </p:txBody>
      </p:sp>
      <p:sp>
        <p:nvSpPr>
          <p:cNvPr id="3" name="Text 1"/>
          <p:cNvSpPr/>
          <p:nvPr/>
        </p:nvSpPr>
        <p:spPr>
          <a:xfrm>
            <a:off x="793790" y="1755338"/>
            <a:ext cx="130428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Week 2 &amp; 3: SDWAN Over IPSec Net Site HQ &amp; Branch</a:t>
            </a:r>
            <a:endParaRPr lang="en-US" sz="4450" dirty="0"/>
          </a:p>
        </p:txBody>
      </p:sp>
      <p:pic>
        <p:nvPicPr>
          <p:cNvPr id="4" name="Image 0" descr="preencoded.png">    </p:cNvPr>
          <p:cNvPicPr>
            <a:picLocks noChangeAspect="1"/>
          </p:cNvPicPr>
          <p:nvPr/>
        </p:nvPicPr>
        <p:blipFill>
          <a:blip r:embed="rId1"/>
          <a:stretch>
            <a:fillRect/>
          </a:stretch>
        </p:blipFill>
        <p:spPr>
          <a:xfrm>
            <a:off x="793790" y="3768209"/>
            <a:ext cx="6244709" cy="2845237"/>
          </a:xfrm>
          <a:prstGeom prst="rect">
            <a:avLst/>
          </a:prstGeom>
        </p:spPr>
      </p:pic>
      <p:pic>
        <p:nvPicPr>
          <p:cNvPr id="5" name="Image 1" descr="preencoded.png">    </p:cNvPr>
          <p:cNvPicPr>
            <a:picLocks noChangeAspect="1"/>
          </p:cNvPicPr>
          <p:nvPr/>
        </p:nvPicPr>
        <p:blipFill>
          <a:blip r:embed="rId2"/>
          <a:stretch>
            <a:fillRect/>
          </a:stretch>
        </p:blipFill>
        <p:spPr>
          <a:xfrm>
            <a:off x="7599521" y="3768209"/>
            <a:ext cx="6244709" cy="289595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0564" y="739021"/>
            <a:ext cx="3543776" cy="312777"/>
          </a:xfrm>
          <a:prstGeom prst="rect">
            <a:avLst/>
          </a:prstGeom>
          <a:noFill/>
          <a:ln/>
        </p:spPr>
        <p:txBody>
          <a:bodyPr wrap="none" lIns="0" tIns="0" rIns="0" bIns="0" rtlCol="0" anchor="t"/>
          <a:lstStyle/>
          <a:p>
            <a:pPr algn="l" indent="0" marL="0">
              <a:lnSpc>
                <a:spcPts val="2450"/>
              </a:lnSpc>
              <a:buNone/>
            </a:pPr>
            <a:r>
              <a:rPr lang="en-US" sz="1950" b="1" dirty="0">
                <a:solidFill>
                  <a:srgbClr val="000000"/>
                </a:solidFill>
                <a:latin typeface="Inter Bold" pitchFamily="34" charset="0"/>
                <a:ea typeface="Inter Bold" pitchFamily="34" charset="-122"/>
                <a:cs typeface="Inter Bold" pitchFamily="34" charset="-120"/>
              </a:rPr>
              <a:t>Chapter 4: Project Showcase</a:t>
            </a:r>
            <a:endParaRPr lang="en-US" sz="1950" dirty="0"/>
          </a:p>
        </p:txBody>
      </p:sp>
      <p:sp>
        <p:nvSpPr>
          <p:cNvPr id="4" name="Text 1"/>
          <p:cNvSpPr/>
          <p:nvPr/>
        </p:nvSpPr>
        <p:spPr>
          <a:xfrm>
            <a:off x="700564" y="1131808"/>
            <a:ext cx="7742873" cy="1250871"/>
          </a:xfrm>
          <a:prstGeom prst="rect">
            <a:avLst/>
          </a:prstGeom>
          <a:noFill/>
          <a:ln/>
        </p:spPr>
        <p:txBody>
          <a:bodyPr wrap="square" lIns="0" tIns="0" rIns="0" bIns="0" rtlCol="0" anchor="t"/>
          <a:lstStyle/>
          <a:p>
            <a:pPr algn="l" indent="0" marL="0">
              <a:lnSpc>
                <a:spcPts val="4900"/>
              </a:lnSpc>
              <a:buNone/>
            </a:pPr>
            <a:r>
              <a:rPr lang="en-US" sz="3900" b="1" dirty="0">
                <a:solidFill>
                  <a:srgbClr val="000000"/>
                </a:solidFill>
                <a:latin typeface="Inter Bold" pitchFamily="34" charset="0"/>
                <a:ea typeface="Inter Bold" pitchFamily="34" charset="-122"/>
                <a:cs typeface="Inter Bold" pitchFamily="34" charset="-120"/>
              </a:rPr>
              <a:t>Week 4: Final Report &amp; Presentation</a:t>
            </a:r>
            <a:endParaRPr lang="en-US" sz="3900" dirty="0"/>
          </a:p>
        </p:txBody>
      </p:sp>
      <p:sp>
        <p:nvSpPr>
          <p:cNvPr id="5" name="Shape 2"/>
          <p:cNvSpPr/>
          <p:nvPr/>
        </p:nvSpPr>
        <p:spPr>
          <a:xfrm>
            <a:off x="925711" y="2682835"/>
            <a:ext cx="22860" cy="4807625"/>
          </a:xfrm>
          <a:prstGeom prst="roundRect">
            <a:avLst>
              <a:gd name="adj" fmla="val 367790"/>
            </a:avLst>
          </a:prstGeom>
          <a:solidFill>
            <a:srgbClr val="C0C1D7"/>
          </a:solidFill>
          <a:ln/>
        </p:spPr>
      </p:sp>
      <p:sp>
        <p:nvSpPr>
          <p:cNvPr id="6" name="Shape 3"/>
          <p:cNvSpPr/>
          <p:nvPr/>
        </p:nvSpPr>
        <p:spPr>
          <a:xfrm>
            <a:off x="1127998" y="2896553"/>
            <a:ext cx="600432" cy="22860"/>
          </a:xfrm>
          <a:prstGeom prst="roundRect">
            <a:avLst>
              <a:gd name="adj" fmla="val 367790"/>
            </a:avLst>
          </a:prstGeom>
          <a:solidFill>
            <a:srgbClr val="C0C1D7"/>
          </a:solidFill>
          <a:ln/>
        </p:spPr>
      </p:sp>
      <p:sp>
        <p:nvSpPr>
          <p:cNvPr id="7" name="Shape 4"/>
          <p:cNvSpPr/>
          <p:nvPr/>
        </p:nvSpPr>
        <p:spPr>
          <a:xfrm>
            <a:off x="700564" y="2682835"/>
            <a:ext cx="450294" cy="450294"/>
          </a:xfrm>
          <a:prstGeom prst="roundRect">
            <a:avLst>
              <a:gd name="adj" fmla="val 18672"/>
            </a:avLst>
          </a:prstGeom>
          <a:solidFill>
            <a:srgbClr val="DADBF1"/>
          </a:solidFill>
          <a:ln w="7620">
            <a:solidFill>
              <a:srgbClr val="C0C1D7"/>
            </a:solidFill>
            <a:prstDash val="solid"/>
          </a:ln>
        </p:spPr>
      </p:sp>
      <p:sp>
        <p:nvSpPr>
          <p:cNvPr id="8" name="Text 5"/>
          <p:cNvSpPr/>
          <p:nvPr/>
        </p:nvSpPr>
        <p:spPr>
          <a:xfrm>
            <a:off x="775633" y="2720340"/>
            <a:ext cx="300157" cy="375285"/>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1</a:t>
            </a:r>
            <a:endParaRPr lang="en-US" sz="2350" dirty="0"/>
          </a:p>
        </p:txBody>
      </p:sp>
      <p:sp>
        <p:nvSpPr>
          <p:cNvPr id="9" name="Text 6"/>
          <p:cNvSpPr/>
          <p:nvPr/>
        </p:nvSpPr>
        <p:spPr>
          <a:xfrm>
            <a:off x="1926669" y="2751534"/>
            <a:ext cx="3326487" cy="312777"/>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Compile All Documentation</a:t>
            </a:r>
            <a:endParaRPr lang="en-US" sz="1950" dirty="0"/>
          </a:p>
        </p:txBody>
      </p:sp>
      <p:sp>
        <p:nvSpPr>
          <p:cNvPr id="10" name="Text 7"/>
          <p:cNvSpPr/>
          <p:nvPr/>
        </p:nvSpPr>
        <p:spPr>
          <a:xfrm>
            <a:off x="1926669" y="3184327"/>
            <a:ext cx="6516767" cy="320159"/>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Integrate all weekly deliverables into a cohesive final report.</a:t>
            </a:r>
            <a:endParaRPr lang="en-US" sz="1550" dirty="0"/>
          </a:p>
        </p:txBody>
      </p:sp>
      <p:sp>
        <p:nvSpPr>
          <p:cNvPr id="11" name="Shape 8"/>
          <p:cNvSpPr/>
          <p:nvPr/>
        </p:nvSpPr>
        <p:spPr>
          <a:xfrm>
            <a:off x="1127998" y="4118491"/>
            <a:ext cx="600432" cy="22860"/>
          </a:xfrm>
          <a:prstGeom prst="roundRect">
            <a:avLst>
              <a:gd name="adj" fmla="val 367790"/>
            </a:avLst>
          </a:prstGeom>
          <a:solidFill>
            <a:srgbClr val="C0C1D7"/>
          </a:solidFill>
          <a:ln/>
        </p:spPr>
      </p:sp>
      <p:sp>
        <p:nvSpPr>
          <p:cNvPr id="12" name="Shape 9"/>
          <p:cNvSpPr/>
          <p:nvPr/>
        </p:nvSpPr>
        <p:spPr>
          <a:xfrm>
            <a:off x="700564" y="3904774"/>
            <a:ext cx="450294" cy="450294"/>
          </a:xfrm>
          <a:prstGeom prst="roundRect">
            <a:avLst>
              <a:gd name="adj" fmla="val 18672"/>
            </a:avLst>
          </a:prstGeom>
          <a:solidFill>
            <a:srgbClr val="DADBF1"/>
          </a:solidFill>
          <a:ln w="7620">
            <a:solidFill>
              <a:srgbClr val="C0C1D7"/>
            </a:solidFill>
            <a:prstDash val="solid"/>
          </a:ln>
        </p:spPr>
      </p:sp>
      <p:sp>
        <p:nvSpPr>
          <p:cNvPr id="13" name="Text 10"/>
          <p:cNvSpPr/>
          <p:nvPr/>
        </p:nvSpPr>
        <p:spPr>
          <a:xfrm>
            <a:off x="775633" y="3942278"/>
            <a:ext cx="300157" cy="375285"/>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2</a:t>
            </a:r>
            <a:endParaRPr lang="en-US" sz="2350" dirty="0"/>
          </a:p>
        </p:txBody>
      </p:sp>
      <p:sp>
        <p:nvSpPr>
          <p:cNvPr id="14" name="Text 11"/>
          <p:cNvSpPr/>
          <p:nvPr/>
        </p:nvSpPr>
        <p:spPr>
          <a:xfrm>
            <a:off x="1926669" y="3973473"/>
            <a:ext cx="2502218" cy="312777"/>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Executive Summary</a:t>
            </a:r>
            <a:endParaRPr lang="en-US" sz="1950" dirty="0"/>
          </a:p>
        </p:txBody>
      </p:sp>
      <p:sp>
        <p:nvSpPr>
          <p:cNvPr id="15" name="Text 12"/>
          <p:cNvSpPr/>
          <p:nvPr/>
        </p:nvSpPr>
        <p:spPr>
          <a:xfrm>
            <a:off x="1926669" y="4406265"/>
            <a:ext cx="6516767" cy="640318"/>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Highlight key findings, configurations, and performance improvements.</a:t>
            </a:r>
            <a:endParaRPr lang="en-US" sz="1550" dirty="0"/>
          </a:p>
        </p:txBody>
      </p:sp>
      <p:sp>
        <p:nvSpPr>
          <p:cNvPr id="16" name="Shape 13"/>
          <p:cNvSpPr/>
          <p:nvPr/>
        </p:nvSpPr>
        <p:spPr>
          <a:xfrm>
            <a:off x="1127998" y="5660588"/>
            <a:ext cx="600432" cy="22860"/>
          </a:xfrm>
          <a:prstGeom prst="roundRect">
            <a:avLst>
              <a:gd name="adj" fmla="val 367790"/>
            </a:avLst>
          </a:prstGeom>
          <a:solidFill>
            <a:srgbClr val="C0C1D7"/>
          </a:solidFill>
          <a:ln/>
        </p:spPr>
      </p:sp>
      <p:sp>
        <p:nvSpPr>
          <p:cNvPr id="17" name="Shape 14"/>
          <p:cNvSpPr/>
          <p:nvPr/>
        </p:nvSpPr>
        <p:spPr>
          <a:xfrm>
            <a:off x="700564" y="5446871"/>
            <a:ext cx="450294" cy="450294"/>
          </a:xfrm>
          <a:prstGeom prst="roundRect">
            <a:avLst>
              <a:gd name="adj" fmla="val 18672"/>
            </a:avLst>
          </a:prstGeom>
          <a:solidFill>
            <a:srgbClr val="DADBF1"/>
          </a:solidFill>
          <a:ln w="7620">
            <a:solidFill>
              <a:srgbClr val="C0C1D7"/>
            </a:solidFill>
            <a:prstDash val="solid"/>
          </a:ln>
        </p:spPr>
      </p:sp>
      <p:sp>
        <p:nvSpPr>
          <p:cNvPr id="18" name="Text 15"/>
          <p:cNvSpPr/>
          <p:nvPr/>
        </p:nvSpPr>
        <p:spPr>
          <a:xfrm>
            <a:off x="775633" y="5484376"/>
            <a:ext cx="300157" cy="375285"/>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3</a:t>
            </a:r>
            <a:endParaRPr lang="en-US" sz="2350" dirty="0"/>
          </a:p>
        </p:txBody>
      </p:sp>
      <p:sp>
        <p:nvSpPr>
          <p:cNvPr id="19" name="Text 16"/>
          <p:cNvSpPr/>
          <p:nvPr/>
        </p:nvSpPr>
        <p:spPr>
          <a:xfrm>
            <a:off x="1926669" y="5515570"/>
            <a:ext cx="2574608" cy="312777"/>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Prepare Presentation</a:t>
            </a:r>
            <a:endParaRPr lang="en-US" sz="1950" dirty="0"/>
          </a:p>
        </p:txBody>
      </p:sp>
      <p:sp>
        <p:nvSpPr>
          <p:cNvPr id="20" name="Text 17"/>
          <p:cNvSpPr/>
          <p:nvPr/>
        </p:nvSpPr>
        <p:spPr>
          <a:xfrm>
            <a:off x="1926669" y="5948363"/>
            <a:ext cx="6516767" cy="320159"/>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Create a clear and engaging presentation summarizing the project.</a:t>
            </a:r>
            <a:endParaRPr lang="en-US" sz="1550" dirty="0"/>
          </a:p>
        </p:txBody>
      </p:sp>
      <p:sp>
        <p:nvSpPr>
          <p:cNvPr id="21" name="Shape 18"/>
          <p:cNvSpPr/>
          <p:nvPr/>
        </p:nvSpPr>
        <p:spPr>
          <a:xfrm>
            <a:off x="1127998" y="6882527"/>
            <a:ext cx="600432" cy="22860"/>
          </a:xfrm>
          <a:prstGeom prst="roundRect">
            <a:avLst>
              <a:gd name="adj" fmla="val 367790"/>
            </a:avLst>
          </a:prstGeom>
          <a:solidFill>
            <a:srgbClr val="C0C1D7"/>
          </a:solidFill>
          <a:ln/>
        </p:spPr>
      </p:sp>
      <p:sp>
        <p:nvSpPr>
          <p:cNvPr id="22" name="Shape 19"/>
          <p:cNvSpPr/>
          <p:nvPr/>
        </p:nvSpPr>
        <p:spPr>
          <a:xfrm>
            <a:off x="700564" y="6668810"/>
            <a:ext cx="450294" cy="450294"/>
          </a:xfrm>
          <a:prstGeom prst="roundRect">
            <a:avLst>
              <a:gd name="adj" fmla="val 18672"/>
            </a:avLst>
          </a:prstGeom>
          <a:solidFill>
            <a:srgbClr val="DADBF1"/>
          </a:solidFill>
          <a:ln w="7620">
            <a:solidFill>
              <a:srgbClr val="C0C1D7"/>
            </a:solidFill>
            <a:prstDash val="solid"/>
          </a:ln>
        </p:spPr>
      </p:sp>
      <p:sp>
        <p:nvSpPr>
          <p:cNvPr id="23" name="Text 20"/>
          <p:cNvSpPr/>
          <p:nvPr/>
        </p:nvSpPr>
        <p:spPr>
          <a:xfrm>
            <a:off x="775633" y="6706314"/>
            <a:ext cx="300157" cy="375285"/>
          </a:xfrm>
          <a:prstGeom prst="rect">
            <a:avLst/>
          </a:prstGeom>
          <a:noFill/>
          <a:ln/>
        </p:spPr>
        <p:txBody>
          <a:bodyPr wrap="none" lIns="0" tIns="0" rIns="0" bIns="0" rtlCol="0" anchor="t"/>
          <a:lstStyle/>
          <a:p>
            <a:pPr algn="ctr" indent="0" marL="0">
              <a:lnSpc>
                <a:spcPts val="2350"/>
              </a:lnSpc>
              <a:buNone/>
            </a:pPr>
            <a:r>
              <a:rPr lang="en-US" sz="2350" b="1" dirty="0">
                <a:solidFill>
                  <a:srgbClr val="272525"/>
                </a:solidFill>
                <a:latin typeface="Inter Bold" pitchFamily="34" charset="0"/>
                <a:ea typeface="Inter Bold" pitchFamily="34" charset="-122"/>
                <a:cs typeface="Inter Bold" pitchFamily="34" charset="-120"/>
              </a:rPr>
              <a:t>4</a:t>
            </a:r>
            <a:endParaRPr lang="en-US" sz="2350" dirty="0"/>
          </a:p>
        </p:txBody>
      </p:sp>
      <p:sp>
        <p:nvSpPr>
          <p:cNvPr id="24" name="Text 21"/>
          <p:cNvSpPr/>
          <p:nvPr/>
        </p:nvSpPr>
        <p:spPr>
          <a:xfrm>
            <a:off x="1926669" y="6737509"/>
            <a:ext cx="2502218" cy="312777"/>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Demonstration</a:t>
            </a:r>
            <a:endParaRPr lang="en-US" sz="1950" dirty="0"/>
          </a:p>
        </p:txBody>
      </p:sp>
      <p:sp>
        <p:nvSpPr>
          <p:cNvPr id="25" name="Text 22"/>
          <p:cNvSpPr/>
          <p:nvPr/>
        </p:nvSpPr>
        <p:spPr>
          <a:xfrm>
            <a:off x="1926669" y="7170301"/>
            <a:ext cx="6516767" cy="320159"/>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Showcase live VPN and SD-WAN functionality, if applicable.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4822" y="1047155"/>
            <a:ext cx="7115889" cy="632460"/>
          </a:xfrm>
          <a:prstGeom prst="rect">
            <a:avLst/>
          </a:prstGeom>
          <a:noFill/>
          <a:ln/>
        </p:spPr>
        <p:txBody>
          <a:bodyPr wrap="none" lIns="0" tIns="0" rIns="0" bIns="0" rtlCol="0" anchor="t"/>
          <a:lstStyle/>
          <a:p>
            <a:pPr algn="l" indent="0" marL="0">
              <a:lnSpc>
                <a:spcPts val="4950"/>
              </a:lnSpc>
              <a:buNone/>
            </a:pPr>
            <a:r>
              <a:rPr lang="en-US" sz="3950" b="1" dirty="0">
                <a:solidFill>
                  <a:srgbClr val="000000"/>
                </a:solidFill>
                <a:latin typeface="Inter Bold" pitchFamily="34" charset="0"/>
                <a:ea typeface="Inter Bold" pitchFamily="34" charset="-122"/>
                <a:cs typeface="Inter Bold" pitchFamily="34" charset="-120"/>
              </a:rPr>
              <a:t>Key Takeaways &amp; Next Steps</a:t>
            </a:r>
            <a:endParaRPr lang="en-US" sz="3950" dirty="0"/>
          </a:p>
        </p:txBody>
      </p:sp>
      <p:sp>
        <p:nvSpPr>
          <p:cNvPr id="4" name="Shape 1"/>
          <p:cNvSpPr/>
          <p:nvPr/>
        </p:nvSpPr>
        <p:spPr>
          <a:xfrm>
            <a:off x="6194822" y="1983224"/>
            <a:ext cx="809625" cy="1214438"/>
          </a:xfrm>
          <a:prstGeom prst="roundRect">
            <a:avLst>
              <a:gd name="adj" fmla="val 360002"/>
            </a:avLst>
          </a:prstGeom>
          <a:solidFill>
            <a:srgbClr val="DADBF1"/>
          </a:solidFill>
          <a:ln w="7620">
            <a:solidFill>
              <a:srgbClr val="C0C1D7"/>
            </a:solidFill>
            <a:prstDash val="solid"/>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47830" y="2438519"/>
            <a:ext cx="303609" cy="303609"/>
          </a:xfrm>
          <a:prstGeom prst="rect">
            <a:avLst/>
          </a:prstGeom>
        </p:spPr>
      </p:pic>
      <p:sp>
        <p:nvSpPr>
          <p:cNvPr id="6" name="Text 2"/>
          <p:cNvSpPr/>
          <p:nvPr/>
        </p:nvSpPr>
        <p:spPr>
          <a:xfrm>
            <a:off x="7206853" y="2185630"/>
            <a:ext cx="2530078" cy="316230"/>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Enhanced Security</a:t>
            </a:r>
            <a:endParaRPr lang="en-US" sz="1950" dirty="0"/>
          </a:p>
        </p:txBody>
      </p:sp>
      <p:sp>
        <p:nvSpPr>
          <p:cNvPr id="7" name="Text 3"/>
          <p:cNvSpPr/>
          <p:nvPr/>
        </p:nvSpPr>
        <p:spPr>
          <a:xfrm>
            <a:off x="7206853" y="2623304"/>
            <a:ext cx="6715125" cy="323850"/>
          </a:xfrm>
          <a:prstGeom prst="rect">
            <a:avLst/>
          </a:prstGeom>
          <a:noFill/>
          <a:ln/>
        </p:spPr>
        <p:txBody>
          <a:bodyPr wrap="none" lIns="0" tIns="0" rIns="0" bIns="0" rtlCol="0" anchor="t"/>
          <a:lstStyle/>
          <a:p>
            <a:pPr algn="l" indent="0" marL="0">
              <a:lnSpc>
                <a:spcPts val="2550"/>
              </a:lnSpc>
              <a:buNone/>
            </a:pPr>
            <a:r>
              <a:rPr lang="en-US" sz="1550" dirty="0">
                <a:solidFill>
                  <a:srgbClr val="272525"/>
                </a:solidFill>
                <a:latin typeface="Inter" pitchFamily="34" charset="0"/>
                <a:ea typeface="Inter" pitchFamily="34" charset="-122"/>
                <a:cs typeface="Inter" pitchFamily="34" charset="-120"/>
              </a:rPr>
              <a:t>FortiGate VPNs provide robust, encrypted communication channels.</a:t>
            </a:r>
            <a:endParaRPr lang="en-US" sz="1550" dirty="0"/>
          </a:p>
        </p:txBody>
      </p:sp>
      <p:sp>
        <p:nvSpPr>
          <p:cNvPr id="8" name="Shape 4"/>
          <p:cNvSpPr/>
          <p:nvPr/>
        </p:nvSpPr>
        <p:spPr>
          <a:xfrm>
            <a:off x="6194822" y="3400068"/>
            <a:ext cx="809625" cy="1214438"/>
          </a:xfrm>
          <a:prstGeom prst="roundRect">
            <a:avLst>
              <a:gd name="adj" fmla="val 360002"/>
            </a:avLst>
          </a:prstGeom>
          <a:solidFill>
            <a:srgbClr val="DADBF1"/>
          </a:solidFill>
          <a:ln w="7620">
            <a:solidFill>
              <a:srgbClr val="C0C1D7"/>
            </a:solidFill>
            <a:prstDash val="solid"/>
          </a:ln>
        </p:spPr>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47830" y="3855363"/>
            <a:ext cx="303609" cy="303609"/>
          </a:xfrm>
          <a:prstGeom prst="rect">
            <a:avLst/>
          </a:prstGeom>
        </p:spPr>
      </p:pic>
      <p:sp>
        <p:nvSpPr>
          <p:cNvPr id="10" name="Text 5"/>
          <p:cNvSpPr/>
          <p:nvPr/>
        </p:nvSpPr>
        <p:spPr>
          <a:xfrm>
            <a:off x="7206853" y="3602474"/>
            <a:ext cx="2934414" cy="316230"/>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Optimized Performance</a:t>
            </a:r>
            <a:endParaRPr lang="en-US" sz="1950" dirty="0"/>
          </a:p>
        </p:txBody>
      </p:sp>
      <p:sp>
        <p:nvSpPr>
          <p:cNvPr id="11" name="Text 6"/>
          <p:cNvSpPr/>
          <p:nvPr/>
        </p:nvSpPr>
        <p:spPr>
          <a:xfrm>
            <a:off x="7206853" y="4040148"/>
            <a:ext cx="6715125" cy="323850"/>
          </a:xfrm>
          <a:prstGeom prst="rect">
            <a:avLst/>
          </a:prstGeom>
          <a:noFill/>
          <a:ln/>
        </p:spPr>
        <p:txBody>
          <a:bodyPr wrap="none" lIns="0" tIns="0" rIns="0" bIns="0" rtlCol="0" anchor="t"/>
          <a:lstStyle/>
          <a:p>
            <a:pPr algn="l" indent="0" marL="0">
              <a:lnSpc>
                <a:spcPts val="2550"/>
              </a:lnSpc>
              <a:buNone/>
            </a:pPr>
            <a:r>
              <a:rPr lang="en-US" sz="1550" dirty="0">
                <a:solidFill>
                  <a:srgbClr val="272525"/>
                </a:solidFill>
                <a:latin typeface="Inter" pitchFamily="34" charset="0"/>
                <a:ea typeface="Inter" pitchFamily="34" charset="-122"/>
                <a:cs typeface="Inter" pitchFamily="34" charset="-120"/>
              </a:rPr>
              <a:t>SD-WAN integration elevates VPN efficiency and user experience.</a:t>
            </a:r>
            <a:endParaRPr lang="en-US" sz="1550" dirty="0"/>
          </a:p>
        </p:txBody>
      </p:sp>
      <p:sp>
        <p:nvSpPr>
          <p:cNvPr id="12" name="Shape 7"/>
          <p:cNvSpPr/>
          <p:nvPr/>
        </p:nvSpPr>
        <p:spPr>
          <a:xfrm>
            <a:off x="6194822" y="4816912"/>
            <a:ext cx="809625" cy="1490186"/>
          </a:xfrm>
          <a:prstGeom prst="roundRect">
            <a:avLst>
              <a:gd name="adj" fmla="val 360002"/>
            </a:avLst>
          </a:prstGeom>
          <a:solidFill>
            <a:srgbClr val="DADBF1"/>
          </a:solidFill>
          <a:ln w="7620">
            <a:solidFill>
              <a:srgbClr val="C0C1D7"/>
            </a:solidFill>
            <a:prstDash val="solid"/>
          </a:ln>
        </p:spPr>
      </p:sp>
      <p:pic>
        <p:nvPicPr>
          <p:cNvPr id="13" name="Image 3" descr="preencoded.png">    </p:cNvPr>
          <p:cNvPicPr>
            <a:picLocks noChangeAspect="1"/>
          </p:cNvPicPr>
          <p:nvPr/>
        </p:nvPicPr>
        <p:blipFill>
          <a:blip r:embed="rId6"/>
          <a:stretch>
            <a:fillRect/>
          </a:stretch>
        </p:blipFill>
        <p:spPr>
          <a:xfrm>
            <a:off x="6447830" y="5410081"/>
            <a:ext cx="303609" cy="303609"/>
          </a:xfrm>
          <a:prstGeom prst="rect">
            <a:avLst/>
          </a:prstGeom>
        </p:spPr>
      </p:pic>
      <p:sp>
        <p:nvSpPr>
          <p:cNvPr id="14" name="Text 8"/>
          <p:cNvSpPr/>
          <p:nvPr/>
        </p:nvSpPr>
        <p:spPr>
          <a:xfrm>
            <a:off x="7206853" y="5019318"/>
            <a:ext cx="2580680" cy="316230"/>
          </a:xfrm>
          <a:prstGeom prst="rect">
            <a:avLst/>
          </a:prstGeom>
          <a:noFill/>
          <a:ln/>
        </p:spPr>
        <p:txBody>
          <a:bodyPr wrap="none" lIns="0" tIns="0" rIns="0" bIns="0" rtlCol="0" anchor="t"/>
          <a:lstStyle/>
          <a:p>
            <a:pPr algn="l" indent="0" marL="0">
              <a:lnSpc>
                <a:spcPts val="2450"/>
              </a:lnSpc>
              <a:buNone/>
            </a:pPr>
            <a:r>
              <a:rPr lang="en-US" sz="1950" b="1" dirty="0">
                <a:solidFill>
                  <a:srgbClr val="272525"/>
                </a:solidFill>
                <a:latin typeface="Inter Bold" pitchFamily="34" charset="0"/>
                <a:ea typeface="Inter Bold" pitchFamily="34" charset="-122"/>
                <a:cs typeface="Inter Bold" pitchFamily="34" charset="-120"/>
              </a:rPr>
              <a:t>Continuous Learning</a:t>
            </a:r>
            <a:endParaRPr lang="en-US" sz="1950" dirty="0"/>
          </a:p>
        </p:txBody>
      </p:sp>
      <p:sp>
        <p:nvSpPr>
          <p:cNvPr id="15" name="Text 9"/>
          <p:cNvSpPr/>
          <p:nvPr/>
        </p:nvSpPr>
        <p:spPr>
          <a:xfrm>
            <a:off x="7206853" y="5456992"/>
            <a:ext cx="6715125" cy="647700"/>
          </a:xfrm>
          <a:prstGeom prst="rect">
            <a:avLst/>
          </a:prstGeom>
          <a:noFill/>
          <a:ln/>
        </p:spPr>
        <p:txBody>
          <a:bodyPr wrap="square" lIns="0" tIns="0" rIns="0" bIns="0" rtlCol="0" anchor="t"/>
          <a:lstStyle/>
          <a:p>
            <a:pPr algn="l" indent="0" marL="0">
              <a:lnSpc>
                <a:spcPts val="2550"/>
              </a:lnSpc>
              <a:buNone/>
            </a:pPr>
            <a:r>
              <a:rPr lang="en-US" sz="1550" dirty="0">
                <a:solidFill>
                  <a:srgbClr val="272525"/>
                </a:solidFill>
                <a:latin typeface="Inter" pitchFamily="34" charset="0"/>
                <a:ea typeface="Inter" pitchFamily="34" charset="-122"/>
                <a:cs typeface="Inter" pitchFamily="34" charset="-120"/>
              </a:rPr>
              <a:t>The project offers a strong foundation for advanced network security roles.</a:t>
            </a:r>
            <a:endParaRPr lang="en-US" sz="1550" dirty="0"/>
          </a:p>
        </p:txBody>
      </p:sp>
      <p:sp>
        <p:nvSpPr>
          <p:cNvPr id="16" name="Text 10"/>
          <p:cNvSpPr/>
          <p:nvPr/>
        </p:nvSpPr>
        <p:spPr>
          <a:xfrm>
            <a:off x="6194822" y="6534745"/>
            <a:ext cx="7727156" cy="647700"/>
          </a:xfrm>
          <a:prstGeom prst="rect">
            <a:avLst/>
          </a:prstGeom>
          <a:noFill/>
          <a:ln/>
        </p:spPr>
        <p:txBody>
          <a:bodyPr wrap="square" lIns="0" tIns="0" rIns="0" bIns="0" rtlCol="0" anchor="t"/>
          <a:lstStyle/>
          <a:p>
            <a:pPr algn="l" indent="0" marL="0">
              <a:lnSpc>
                <a:spcPts val="2550"/>
              </a:lnSpc>
              <a:buNone/>
            </a:pPr>
            <a:r>
              <a:rPr lang="en-US" sz="1550" dirty="0">
                <a:solidFill>
                  <a:srgbClr val="272525"/>
                </a:solidFill>
                <a:latin typeface="Inter" pitchFamily="34" charset="0"/>
                <a:ea typeface="Inter" pitchFamily="34" charset="-122"/>
                <a:cs typeface="Inter" pitchFamily="34" charset="-120"/>
              </a:rPr>
              <a:t>This project equips participants with critical skills for deploying and managing secure, high-performance network infrastructures using FortiGate.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3408878"/>
            <a:ext cx="5670590"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Meet Our Team </a:t>
            </a:r>
            <a:endParaRPr lang="en-US" sz="4450" dirty="0"/>
          </a:p>
        </p:txBody>
      </p:sp>
      <p:sp>
        <p:nvSpPr>
          <p:cNvPr id="3" name="Text 1"/>
          <p:cNvSpPr/>
          <p:nvPr/>
        </p:nvSpPr>
        <p:spPr>
          <a:xfrm>
            <a:off x="793790" y="4457819"/>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2025-12-09T16:56:02Z</dcterms:created>
  <dcterms:modified xsi:type="dcterms:W3CDTF">2025-12-09T16:56:02Z</dcterms:modified>
</cp:coreProperties>
</file>